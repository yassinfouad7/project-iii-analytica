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4.xml" ContentType="application/vnd.openxmlformats-officedocument.drawingml.chart+xml"/>
  <Override PartName="/ppt/drawings/drawing1.xml" ContentType="application/vnd.openxmlformats-officedocument.drawingml.chartshape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8" d="100"/>
          <a:sy n="118" d="100"/>
        </p:scale>
        <p:origin x="3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Percentage</c:v>
                </c:pt>
              </c:strCache>
            </c:strRef>
          </c:tx>
          <c:spPr>
            <a:solidFill>
              <a:srgbClr val="10B981"/>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Delivered</c:v>
                </c:pt>
                <c:pt idx="1">
                  <c:v>Cancelled</c:v>
                </c:pt>
                <c:pt idx="2">
                  <c:v>In Transit</c:v>
                </c:pt>
              </c:strCache>
            </c:strRef>
          </c:cat>
          <c:val>
            <c:numRef>
              <c:f>Sheet1!$B$2:$B$4</c:f>
              <c:numCache>
                <c:formatCode>General</c:formatCode>
                <c:ptCount val="3"/>
                <c:pt idx="0">
                  <c:v>84000</c:v>
                </c:pt>
                <c:pt idx="1">
                  <c:v>10000</c:v>
                </c:pt>
                <c:pt idx="2">
                  <c:v>6000</c:v>
                </c:pt>
              </c:numCache>
            </c:numRef>
          </c:val>
          <c:extLst>
            <c:ext xmlns:c16="http://schemas.microsoft.com/office/drawing/2014/chart" uri="{C3380CC4-5D6E-409C-BE32-E72D297353CC}">
              <c16:uniqueId val="{00000000-8906-4FDC-B992-4467B531E95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556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556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9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Orders</c:v>
                </c:pt>
              </c:strCache>
            </c:strRef>
          </c:tx>
          <c:spPr>
            <a:solidFill>
              <a:srgbClr val="F59E0B"/>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Cash</c:v>
                </c:pt>
                <c:pt idx="1">
                  <c:v>Wallet</c:v>
                </c:pt>
                <c:pt idx="2">
                  <c:v>Credit Card</c:v>
                </c:pt>
              </c:strCache>
            </c:strRef>
          </c:cat>
          <c:val>
            <c:numRef>
              <c:f>Sheet1!$B$2:$B$4</c:f>
              <c:numCache>
                <c:formatCode>General</c:formatCode>
                <c:ptCount val="3"/>
                <c:pt idx="0">
                  <c:v>33400</c:v>
                </c:pt>
                <c:pt idx="1">
                  <c:v>33300</c:v>
                </c:pt>
                <c:pt idx="2">
                  <c:v>33300</c:v>
                </c:pt>
              </c:numCache>
            </c:numRef>
          </c:val>
          <c:extLst>
            <c:ext xmlns:c16="http://schemas.microsoft.com/office/drawing/2014/chart" uri="{C3380CC4-5D6E-409C-BE32-E72D297353CC}">
              <c16:uniqueId val="{00000000-71C2-4EAC-BFD9-6F7193A157D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556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556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9F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Percentage</c:v>
                </c:pt>
              </c:strCache>
            </c:strRef>
          </c:tx>
          <c:spPr>
            <a:solidFill>
              <a:srgbClr val="EF4444"/>
            </a:solidFill>
            <a:effectLst/>
          </c:spPr>
          <c:invertIfNegative val="0"/>
          <c:dLbls>
            <c:numFmt formatCode="#,##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c:v>
                </c:pt>
                <c:pt idx="1">
                  <c:v>Medium</c:v>
                </c:pt>
                <c:pt idx="2">
                  <c:v>High</c:v>
                </c:pt>
              </c:strCache>
            </c:strRef>
          </c:cat>
          <c:val>
            <c:numRef>
              <c:f>Sheet1!$B$2:$B$4</c:f>
              <c:numCache>
                <c:formatCode>General</c:formatCode>
                <c:ptCount val="3"/>
                <c:pt idx="0">
                  <c:v>45000</c:v>
                </c:pt>
                <c:pt idx="1">
                  <c:v>26000</c:v>
                </c:pt>
                <c:pt idx="2">
                  <c:v>29000</c:v>
                </c:pt>
              </c:numCache>
            </c:numRef>
          </c:val>
          <c:extLst>
            <c:ext xmlns:c16="http://schemas.microsoft.com/office/drawing/2014/chart" uri="{C3380CC4-5D6E-409C-BE32-E72D297353CC}">
              <c16:uniqueId val="{00000000-DE9C-4DE8-BF5F-BF6D632B610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556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556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9FA"/>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B556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5563"/>
                </a:solidFill>
                <a:latin typeface="Arial"/>
              </a:defRPr>
            </a:pPr>
            <a:endParaRPr lang="en-US"/>
          </a:p>
        </c:txPr>
        <c:crossAx val="2094734554"/>
        <c:crosses val="autoZero"/>
        <c:crossBetween val="between"/>
      </c:valAx>
      <c:spPr>
        <a:noFill/>
        <a:ln w="25400">
          <a:noFill/>
        </a:ln>
        <a:effectLst/>
      </c:spPr>
    </c:plotArea>
    <c:plotVisOnly val="1"/>
    <c:dispBlanksAs val="span"/>
    <c:showDLblsOverMax val="1"/>
  </c:chart>
  <c:spPr>
    <a:solidFill>
      <a:srgbClr val="F8F9FA"/>
    </a:solidFill>
    <a:ln>
      <a:noFill/>
    </a:ln>
    <a:effectLst/>
  </c:spPr>
  <c:externalData r:id="rId1">
    <c:autoUpdate val="0"/>
  </c:externalData>
  <c:userShapes r:id="rId2"/>
</c:chartSpace>
</file>

<file path=ppt/drawings/_rels/drawing1.xml.rels><?xml version="1.0" encoding="UTF-8" standalone="yes"?>
<Relationships xmlns="http://schemas.openxmlformats.org/package/2006/relationships"><Relationship Id="rId1" Type="http://schemas.openxmlformats.org/officeDocument/2006/relationships/image" Target="../media/image7.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2" name="chart">
          <a:extLst xmlns:a="http://schemas.openxmlformats.org/drawingml/2006/main">
            <a:ext uri="{FF2B5EF4-FFF2-40B4-BE49-F238E27FC236}">
              <a16:creationId xmlns:a16="http://schemas.microsoft.com/office/drawing/2014/main" id="{10DF23C3-FF8B-3F21-8168-F4EB7DDF3678}"/>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6782747" cy="3753374"/>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7048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6B00"/>
          </a:solidFill>
          <a:ln w="12700">
            <a:solidFill>
              <a:srgbClr val="FF6B00"/>
            </a:solidFill>
            <a:prstDash val="solid"/>
          </a:ln>
        </p:spPr>
        <p:txBody>
          <a:bodyPr/>
          <a:lstStyle/>
          <a:p>
            <a:endParaRPr lang="en-US"/>
          </a:p>
        </p:txBody>
      </p:sp>
      <p:sp>
        <p:nvSpPr>
          <p:cNvPr id="3" name="Shape 1"/>
          <p:cNvSpPr/>
          <p:nvPr/>
        </p:nvSpPr>
        <p:spPr>
          <a:xfrm>
            <a:off x="9601200" y="0"/>
            <a:ext cx="2560320" cy="1005840"/>
          </a:xfrm>
          <a:prstGeom prst="rect">
            <a:avLst/>
          </a:prstGeom>
          <a:solidFill>
            <a:srgbClr val="FF6B00"/>
          </a:solidFill>
          <a:ln w="12700">
            <a:solidFill>
              <a:srgbClr val="FF6B00"/>
            </a:solidFill>
            <a:prstDash val="solid"/>
          </a:ln>
        </p:spPr>
        <p:txBody>
          <a:bodyPr/>
          <a:lstStyle/>
          <a:p>
            <a:endParaRPr lang="en-US"/>
          </a:p>
        </p:txBody>
      </p:sp>
      <p:sp>
        <p:nvSpPr>
          <p:cNvPr id="4" name="Shape 2"/>
          <p:cNvSpPr/>
          <p:nvPr/>
        </p:nvSpPr>
        <p:spPr>
          <a:xfrm>
            <a:off x="0" y="6492240"/>
            <a:ext cx="12161520" cy="365760"/>
          </a:xfrm>
          <a:prstGeom prst="rect">
            <a:avLst/>
          </a:prstGeom>
          <a:solidFill>
            <a:srgbClr val="FF6B00"/>
          </a:solidFill>
          <a:ln w="12700">
            <a:solidFill>
              <a:srgbClr val="FF6B00"/>
            </a:solidFill>
            <a:prstDash val="solid"/>
          </a:ln>
        </p:spPr>
        <p:txBody>
          <a:bodyPr/>
          <a:lstStyle/>
          <a:p>
            <a:endParaRPr lang="en-US"/>
          </a:p>
        </p:txBody>
      </p:sp>
      <p:sp>
        <p:nvSpPr>
          <p:cNvPr id="5" name="Text 3"/>
          <p:cNvSpPr/>
          <p:nvPr/>
        </p:nvSpPr>
        <p:spPr>
          <a:xfrm>
            <a:off x="457200" y="914400"/>
            <a:ext cx="8229600" cy="822960"/>
          </a:xfrm>
          <a:prstGeom prst="rect">
            <a:avLst/>
          </a:prstGeom>
          <a:noFill/>
          <a:ln/>
        </p:spPr>
        <p:txBody>
          <a:bodyPr wrap="square" lIns="0" tIns="0" rIns="0" bIns="0" rtlCol="0" anchor="ctr"/>
          <a:lstStyle/>
          <a:p>
            <a:pPr marL="0" indent="0">
              <a:buNone/>
            </a:pPr>
            <a:r>
              <a:rPr lang="en-US" sz="4200" b="1" kern="0" spc="400" dirty="0">
                <a:solidFill>
                  <a:srgbClr val="6B7280"/>
                </a:solidFill>
                <a:latin typeface="Arial Black" pitchFamily="34" charset="0"/>
                <a:ea typeface="Arial Black" pitchFamily="34" charset="-122"/>
                <a:cs typeface="Arial Black" pitchFamily="34" charset="-120"/>
              </a:rPr>
              <a:t>THE ANALYSIS OF</a:t>
            </a:r>
            <a:endParaRPr lang="en-US" sz="4200" dirty="0"/>
          </a:p>
        </p:txBody>
      </p:sp>
      <p:sp>
        <p:nvSpPr>
          <p:cNvPr id="6" name="Text 4"/>
          <p:cNvSpPr/>
          <p:nvPr/>
        </p:nvSpPr>
        <p:spPr>
          <a:xfrm>
            <a:off x="457200" y="1600200"/>
            <a:ext cx="7772400" cy="1463040"/>
          </a:xfrm>
          <a:prstGeom prst="rect">
            <a:avLst/>
          </a:prstGeom>
          <a:noFill/>
          <a:ln/>
        </p:spPr>
        <p:txBody>
          <a:bodyPr wrap="square" lIns="0" tIns="0" rIns="0" bIns="0" rtlCol="0" anchor="ctr"/>
          <a:lstStyle/>
          <a:p>
            <a:pPr marL="0" indent="0">
              <a:buNone/>
            </a:pPr>
            <a:r>
              <a:rPr lang="en-US" sz="9600" b="1" kern="0" spc="200" dirty="0">
                <a:solidFill>
                  <a:srgbClr val="FF6B00"/>
                </a:solidFill>
                <a:latin typeface="Arial Black" pitchFamily="34" charset="0"/>
                <a:ea typeface="Arial Black" pitchFamily="34" charset="-122"/>
                <a:cs typeface="Arial Black" pitchFamily="34" charset="-120"/>
              </a:rPr>
              <a:t>TALABAT</a:t>
            </a:r>
            <a:endParaRPr lang="en-US" sz="9600" dirty="0"/>
          </a:p>
        </p:txBody>
      </p:sp>
      <p:sp>
        <p:nvSpPr>
          <p:cNvPr id="7" name="Text 5"/>
          <p:cNvSpPr/>
          <p:nvPr/>
        </p:nvSpPr>
        <p:spPr>
          <a:xfrm>
            <a:off x="457200" y="2926080"/>
            <a:ext cx="8229600" cy="822960"/>
          </a:xfrm>
          <a:prstGeom prst="rect">
            <a:avLst/>
          </a:prstGeom>
          <a:noFill/>
          <a:ln/>
        </p:spPr>
        <p:txBody>
          <a:bodyPr wrap="square" lIns="0" tIns="0" rIns="0" bIns="0" rtlCol="0" anchor="ctr"/>
          <a:lstStyle/>
          <a:p>
            <a:pPr marL="0" indent="0">
              <a:buNone/>
            </a:pPr>
            <a:r>
              <a:rPr lang="en-US" sz="4200" b="1" kern="0" spc="400" dirty="0">
                <a:solidFill>
                  <a:srgbClr val="1A1A2E"/>
                </a:solidFill>
                <a:latin typeface="Arial Black" pitchFamily="34" charset="0"/>
                <a:ea typeface="Arial Black" pitchFamily="34" charset="-122"/>
                <a:cs typeface="Arial Black" pitchFamily="34" charset="-120"/>
              </a:rPr>
              <a:t>DELIVERY ORDERS</a:t>
            </a:r>
            <a:endParaRPr lang="en-US" sz="4200" dirty="0"/>
          </a:p>
        </p:txBody>
      </p:sp>
      <p:sp>
        <p:nvSpPr>
          <p:cNvPr id="8" name="Text 6"/>
          <p:cNvSpPr/>
          <p:nvPr/>
        </p:nvSpPr>
        <p:spPr>
          <a:xfrm>
            <a:off x="457200" y="3886200"/>
            <a:ext cx="7315200" cy="457200"/>
          </a:xfrm>
          <a:prstGeom prst="rect">
            <a:avLst/>
          </a:prstGeom>
          <a:noFill/>
          <a:ln/>
        </p:spPr>
        <p:txBody>
          <a:bodyPr wrap="square" lIns="0" tIns="0" rIns="0" bIns="0" rtlCol="0" anchor="ctr"/>
          <a:lstStyle/>
          <a:p>
            <a:pPr marL="0" indent="0">
              <a:buNone/>
            </a:pPr>
            <a:r>
              <a:rPr lang="en-US" sz="1500" i="1" dirty="0">
                <a:solidFill>
                  <a:srgbClr val="4B5563"/>
                </a:solidFill>
                <a:latin typeface="Calibri" pitchFamily="34" charset="0"/>
                <a:ea typeface="Calibri" pitchFamily="34" charset="-122"/>
                <a:cs typeface="Calibri" pitchFamily="34" charset="-120"/>
              </a:rPr>
              <a:t>Uncovering patterns in delivery performance &amp; customer behavior</a:t>
            </a:r>
            <a:endParaRPr lang="en-US" sz="1500" dirty="0"/>
          </a:p>
        </p:txBody>
      </p:sp>
      <p:sp>
        <p:nvSpPr>
          <p:cNvPr id="9" name="Shape 7"/>
          <p:cNvSpPr/>
          <p:nvPr/>
        </p:nvSpPr>
        <p:spPr>
          <a:xfrm>
            <a:off x="457200" y="4434840"/>
            <a:ext cx="4572000" cy="36576"/>
          </a:xfrm>
          <a:prstGeom prst="rect">
            <a:avLst/>
          </a:prstGeom>
          <a:solidFill>
            <a:srgbClr val="E5E7EB"/>
          </a:solidFill>
          <a:ln w="12700">
            <a:solidFill>
              <a:srgbClr val="E5E7EB"/>
            </a:solidFill>
            <a:prstDash val="solid"/>
          </a:ln>
        </p:spPr>
        <p:txBody>
          <a:bodyPr/>
          <a:lstStyle/>
          <a:p>
            <a:endParaRPr lang="en-US"/>
          </a:p>
        </p:txBody>
      </p:sp>
      <p:sp>
        <p:nvSpPr>
          <p:cNvPr id="10" name="Text 8"/>
          <p:cNvSpPr/>
          <p:nvPr/>
        </p:nvSpPr>
        <p:spPr>
          <a:xfrm>
            <a:off x="457200" y="4617720"/>
            <a:ext cx="4572000" cy="1188720"/>
          </a:xfrm>
          <a:prstGeom prst="rect">
            <a:avLst/>
          </a:prstGeom>
          <a:noFill/>
          <a:ln/>
        </p:spPr>
        <p:txBody>
          <a:bodyPr wrap="square" rtlCol="0" anchor="ctr"/>
          <a:lstStyle/>
          <a:p>
            <a:r>
              <a:rPr lang="en-US" sz="1300" dirty="0">
                <a:solidFill>
                  <a:srgbClr val="4B5563"/>
                </a:solidFill>
                <a:latin typeface="Calibri" pitchFamily="34" charset="0"/>
                <a:ea typeface="Calibri" pitchFamily="34" charset="-122"/>
                <a:cs typeface="Calibri" pitchFamily="34" charset="-120"/>
              </a:rPr>
              <a:t>Omar Khattab (24-101227)</a:t>
            </a:r>
          </a:p>
          <a:p>
            <a:r>
              <a:rPr lang="en-US" sz="1300" dirty="0">
                <a:solidFill>
                  <a:srgbClr val="4B5563"/>
                </a:solidFill>
                <a:latin typeface="Calibri" pitchFamily="34" charset="0"/>
                <a:ea typeface="Calibri" pitchFamily="34" charset="-122"/>
                <a:cs typeface="Calibri" pitchFamily="34" charset="-120"/>
              </a:rPr>
              <a:t>Yassin Fouad (24-101177)</a:t>
            </a:r>
          </a:p>
          <a:p>
            <a:pPr marL="0" indent="0">
              <a:buNone/>
            </a:pPr>
            <a:r>
              <a:rPr lang="en-US" sz="1300" dirty="0">
                <a:solidFill>
                  <a:srgbClr val="4B5563"/>
                </a:solidFill>
                <a:latin typeface="Calibri" pitchFamily="34" charset="0"/>
                <a:ea typeface="Calibri" pitchFamily="34" charset="-122"/>
                <a:cs typeface="Calibri" pitchFamily="34" charset="-120"/>
              </a:rPr>
              <a:t>Haya Mohamed Moussa (24-101252)</a:t>
            </a:r>
            <a:endParaRPr lang="en-US" sz="1300" dirty="0"/>
          </a:p>
          <a:p>
            <a:pPr marL="0" indent="0">
              <a:buNone/>
            </a:pPr>
            <a:r>
              <a:rPr lang="en-US" sz="1300" dirty="0">
                <a:solidFill>
                  <a:srgbClr val="4B5563"/>
                </a:solidFill>
                <a:latin typeface="Calibri" pitchFamily="34" charset="0"/>
                <a:ea typeface="Calibri" pitchFamily="34" charset="-122"/>
                <a:cs typeface="Calibri" pitchFamily="34" charset="-120"/>
              </a:rPr>
              <a:t>Zyad Walid (24-101301)</a:t>
            </a:r>
            <a:endParaRPr lang="en-US" sz="1300" dirty="0"/>
          </a:p>
        </p:txBody>
      </p:sp>
      <p:sp>
        <p:nvSpPr>
          <p:cNvPr id="11" name="Text 9"/>
          <p:cNvSpPr/>
          <p:nvPr/>
        </p:nvSpPr>
        <p:spPr>
          <a:xfrm>
            <a:off x="9601200" y="45720"/>
            <a:ext cx="2468880" cy="868680"/>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Egypt University of Informatics</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Computer &amp; Information Systems</a:t>
            </a:r>
            <a:endParaRPr lang="en-US" sz="950" dirty="0"/>
          </a:p>
          <a:p>
            <a:pPr marL="0" indent="0" algn="ctr">
              <a:buNone/>
            </a:pPr>
            <a:r>
              <a:rPr lang="en-US" sz="950" dirty="0">
                <a:solidFill>
                  <a:srgbClr val="FFFFFF"/>
                </a:solidFill>
                <a:latin typeface="Calibri" pitchFamily="34" charset="0"/>
                <a:ea typeface="Calibri" pitchFamily="34" charset="-122"/>
                <a:cs typeface="Calibri" pitchFamily="34" charset="-120"/>
              </a:rPr>
              <a:t>Data Analysis Course</a:t>
            </a:r>
            <a:endParaRPr lang="en-US" sz="950" dirty="0"/>
          </a:p>
        </p:txBody>
      </p:sp>
      <p:sp>
        <p:nvSpPr>
          <p:cNvPr id="12" name="Shape 10"/>
          <p:cNvSpPr/>
          <p:nvPr/>
        </p:nvSpPr>
        <p:spPr>
          <a:xfrm>
            <a:off x="7772400" y="2707277"/>
            <a:ext cx="1005840" cy="1371600"/>
          </a:xfrm>
          <a:prstGeom prst="rect">
            <a:avLst/>
          </a:prstGeom>
          <a:solidFill>
            <a:srgbClr val="F8F9FA"/>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a:p>
        </p:txBody>
      </p:sp>
      <p:sp>
        <p:nvSpPr>
          <p:cNvPr id="13" name="Shape 11"/>
          <p:cNvSpPr/>
          <p:nvPr/>
        </p:nvSpPr>
        <p:spPr>
          <a:xfrm>
            <a:off x="7772400" y="2707277"/>
            <a:ext cx="1005840" cy="64008"/>
          </a:xfrm>
          <a:prstGeom prst="rect">
            <a:avLst/>
          </a:prstGeom>
          <a:solidFill>
            <a:srgbClr val="FF6B00"/>
          </a:solidFill>
          <a:ln w="12700">
            <a:solidFill>
              <a:srgbClr val="FF6B00"/>
            </a:solidFill>
            <a:prstDash val="solid"/>
          </a:ln>
        </p:spPr>
        <p:txBody>
          <a:bodyPr/>
          <a:lstStyle/>
          <a:p>
            <a:endParaRPr lang="en-US"/>
          </a:p>
        </p:txBody>
      </p:sp>
      <p:sp>
        <p:nvSpPr>
          <p:cNvPr id="14" name="Text 12"/>
          <p:cNvSpPr/>
          <p:nvPr/>
        </p:nvSpPr>
        <p:spPr>
          <a:xfrm>
            <a:off x="7772400" y="2798717"/>
            <a:ext cx="1005840" cy="594360"/>
          </a:xfrm>
          <a:prstGeom prst="rect">
            <a:avLst/>
          </a:prstGeom>
          <a:noFill/>
          <a:ln/>
        </p:spPr>
        <p:txBody>
          <a:bodyPr wrap="square" lIns="0" tIns="0" rIns="0" bIns="0" rtlCol="0" anchor="ctr"/>
          <a:lstStyle/>
          <a:p>
            <a:pPr marL="0" indent="0" algn="ctr">
              <a:buNone/>
            </a:pPr>
            <a:r>
              <a:rPr lang="en-US" sz="2600" b="1" dirty="0">
                <a:solidFill>
                  <a:srgbClr val="FF6B00"/>
                </a:solidFill>
                <a:latin typeface="Arial Black" pitchFamily="34" charset="0"/>
                <a:ea typeface="Arial Black" pitchFamily="34" charset="-122"/>
                <a:cs typeface="Arial Black" pitchFamily="34" charset="-120"/>
              </a:rPr>
              <a:t>100K</a:t>
            </a:r>
            <a:endParaRPr lang="en-US" sz="2600" dirty="0"/>
          </a:p>
        </p:txBody>
      </p:sp>
      <p:sp>
        <p:nvSpPr>
          <p:cNvPr id="15" name="Text 13"/>
          <p:cNvSpPr/>
          <p:nvPr/>
        </p:nvSpPr>
        <p:spPr>
          <a:xfrm>
            <a:off x="7772400" y="3374789"/>
            <a:ext cx="1005840" cy="502920"/>
          </a:xfrm>
          <a:prstGeom prst="rect">
            <a:avLst/>
          </a:prstGeom>
          <a:noFill/>
          <a:ln/>
        </p:spPr>
        <p:txBody>
          <a:bodyPr wrap="square" lIns="0" tIns="0" rIns="0" bIns="0" rtlCol="0" anchor="ctr"/>
          <a:lstStyle/>
          <a:p>
            <a:pPr marL="0" indent="0" algn="ctr">
              <a:buNone/>
            </a:pPr>
            <a:r>
              <a:rPr lang="en-US" sz="900">
                <a:solidFill>
                  <a:srgbClr val="4B5563"/>
                </a:solidFill>
                <a:latin typeface="Calibri" pitchFamily="34" charset="0"/>
                <a:cs typeface="Calibri" pitchFamily="34" charset="-120"/>
              </a:rPr>
              <a:t>Samples Tested</a:t>
            </a:r>
            <a:endParaRPr lang="en-US" sz="900" dirty="0"/>
          </a:p>
        </p:txBody>
      </p:sp>
      <p:sp>
        <p:nvSpPr>
          <p:cNvPr id="16" name="Shape 14"/>
          <p:cNvSpPr/>
          <p:nvPr/>
        </p:nvSpPr>
        <p:spPr>
          <a:xfrm>
            <a:off x="8869680" y="2707277"/>
            <a:ext cx="1005840" cy="1371600"/>
          </a:xfrm>
          <a:prstGeom prst="rect">
            <a:avLst/>
          </a:prstGeom>
          <a:solidFill>
            <a:srgbClr val="F8F9FA"/>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a:p>
        </p:txBody>
      </p:sp>
      <p:sp>
        <p:nvSpPr>
          <p:cNvPr id="17" name="Shape 15"/>
          <p:cNvSpPr/>
          <p:nvPr/>
        </p:nvSpPr>
        <p:spPr>
          <a:xfrm>
            <a:off x="8869680" y="2707277"/>
            <a:ext cx="1005840" cy="64008"/>
          </a:xfrm>
          <a:prstGeom prst="rect">
            <a:avLst/>
          </a:prstGeom>
          <a:solidFill>
            <a:srgbClr val="FF6B00"/>
          </a:solidFill>
          <a:ln w="12700">
            <a:solidFill>
              <a:srgbClr val="FF6B00"/>
            </a:solidFill>
            <a:prstDash val="solid"/>
          </a:ln>
        </p:spPr>
        <p:txBody>
          <a:bodyPr/>
          <a:lstStyle/>
          <a:p>
            <a:endParaRPr lang="en-US"/>
          </a:p>
        </p:txBody>
      </p:sp>
      <p:sp>
        <p:nvSpPr>
          <p:cNvPr id="18" name="Text 16"/>
          <p:cNvSpPr/>
          <p:nvPr/>
        </p:nvSpPr>
        <p:spPr>
          <a:xfrm>
            <a:off x="8869680" y="2798717"/>
            <a:ext cx="1005840" cy="594360"/>
          </a:xfrm>
          <a:prstGeom prst="rect">
            <a:avLst/>
          </a:prstGeom>
          <a:noFill/>
          <a:ln/>
        </p:spPr>
        <p:txBody>
          <a:bodyPr wrap="square" lIns="0" tIns="0" rIns="0" bIns="0" rtlCol="0" anchor="ctr"/>
          <a:lstStyle/>
          <a:p>
            <a:pPr marL="0" indent="0" algn="ctr">
              <a:buNone/>
            </a:pPr>
            <a:r>
              <a:rPr lang="en-US" sz="2600" b="1" dirty="0">
                <a:solidFill>
                  <a:srgbClr val="FF6B00"/>
                </a:solidFill>
                <a:latin typeface="Arial Black" pitchFamily="34" charset="0"/>
                <a:ea typeface="Arial Black" pitchFamily="34" charset="-122"/>
                <a:cs typeface="Arial Black" pitchFamily="34" charset="-120"/>
              </a:rPr>
              <a:t>23</a:t>
            </a:r>
            <a:endParaRPr lang="en-US" sz="2600" dirty="0"/>
          </a:p>
        </p:txBody>
      </p:sp>
      <p:sp>
        <p:nvSpPr>
          <p:cNvPr id="19" name="Text 17"/>
          <p:cNvSpPr/>
          <p:nvPr/>
        </p:nvSpPr>
        <p:spPr>
          <a:xfrm>
            <a:off x="8869680" y="3374789"/>
            <a:ext cx="1005840" cy="502920"/>
          </a:xfrm>
          <a:prstGeom prst="rect">
            <a:avLst/>
          </a:prstGeom>
          <a:noFill/>
          <a:ln/>
        </p:spPr>
        <p:txBody>
          <a:bodyPr wrap="square" lIns="0" tIns="0" rIns="0" bIns="0" rtlCol="0" anchor="ctr"/>
          <a:lstStyle/>
          <a:p>
            <a:pPr marL="0" indent="0" algn="ctr">
              <a:buNone/>
            </a:pPr>
            <a:r>
              <a:rPr lang="en-US" sz="900" dirty="0">
                <a:solidFill>
                  <a:srgbClr val="4B5563"/>
                </a:solidFill>
                <a:latin typeface="Calibri" pitchFamily="34" charset="0"/>
                <a:ea typeface="Calibri" pitchFamily="34" charset="-122"/>
                <a:cs typeface="Calibri" pitchFamily="34" charset="-120"/>
              </a:rPr>
              <a:t>Variables</a:t>
            </a:r>
            <a:endParaRPr lang="en-US" sz="900" dirty="0"/>
          </a:p>
        </p:txBody>
      </p:sp>
      <p:sp>
        <p:nvSpPr>
          <p:cNvPr id="20" name="Shape 18"/>
          <p:cNvSpPr/>
          <p:nvPr/>
        </p:nvSpPr>
        <p:spPr>
          <a:xfrm>
            <a:off x="9966960" y="2707277"/>
            <a:ext cx="1005840" cy="1371600"/>
          </a:xfrm>
          <a:prstGeom prst="rect">
            <a:avLst/>
          </a:prstGeom>
          <a:solidFill>
            <a:srgbClr val="F8F9FA"/>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a:p>
        </p:txBody>
      </p:sp>
      <p:sp>
        <p:nvSpPr>
          <p:cNvPr id="21" name="Shape 19"/>
          <p:cNvSpPr/>
          <p:nvPr/>
        </p:nvSpPr>
        <p:spPr>
          <a:xfrm>
            <a:off x="9966960" y="2707277"/>
            <a:ext cx="1005840" cy="64008"/>
          </a:xfrm>
          <a:prstGeom prst="rect">
            <a:avLst/>
          </a:prstGeom>
          <a:solidFill>
            <a:srgbClr val="FF6B00"/>
          </a:solidFill>
          <a:ln w="12700">
            <a:solidFill>
              <a:srgbClr val="FF6B00"/>
            </a:solidFill>
            <a:prstDash val="solid"/>
          </a:ln>
        </p:spPr>
        <p:txBody>
          <a:bodyPr/>
          <a:lstStyle/>
          <a:p>
            <a:endParaRPr lang="en-US"/>
          </a:p>
        </p:txBody>
      </p:sp>
      <p:sp>
        <p:nvSpPr>
          <p:cNvPr id="22" name="Text 20"/>
          <p:cNvSpPr/>
          <p:nvPr/>
        </p:nvSpPr>
        <p:spPr>
          <a:xfrm>
            <a:off x="9966960" y="2798717"/>
            <a:ext cx="1005840" cy="594360"/>
          </a:xfrm>
          <a:prstGeom prst="rect">
            <a:avLst/>
          </a:prstGeom>
          <a:noFill/>
          <a:ln/>
        </p:spPr>
        <p:txBody>
          <a:bodyPr wrap="square" lIns="0" tIns="0" rIns="0" bIns="0" rtlCol="0" anchor="ctr"/>
          <a:lstStyle/>
          <a:p>
            <a:pPr marL="0" indent="0" algn="ctr">
              <a:buNone/>
            </a:pPr>
            <a:r>
              <a:rPr lang="en-US" sz="2600" b="1" dirty="0">
                <a:solidFill>
                  <a:srgbClr val="FF6B00"/>
                </a:solidFill>
                <a:latin typeface="Arial Black" pitchFamily="34" charset="0"/>
                <a:ea typeface="Arial Black" pitchFamily="34" charset="-122"/>
                <a:cs typeface="Arial Black" pitchFamily="34" charset="-120"/>
              </a:rPr>
              <a:t>7</a:t>
            </a:r>
            <a:endParaRPr lang="en-US" sz="2600" dirty="0"/>
          </a:p>
        </p:txBody>
      </p:sp>
      <p:sp>
        <p:nvSpPr>
          <p:cNvPr id="23" name="Text 21"/>
          <p:cNvSpPr/>
          <p:nvPr/>
        </p:nvSpPr>
        <p:spPr>
          <a:xfrm>
            <a:off x="9966960" y="3374789"/>
            <a:ext cx="1005840" cy="502920"/>
          </a:xfrm>
          <a:prstGeom prst="rect">
            <a:avLst/>
          </a:prstGeom>
          <a:noFill/>
          <a:ln/>
        </p:spPr>
        <p:txBody>
          <a:bodyPr wrap="square" lIns="0" tIns="0" rIns="0" bIns="0" rtlCol="0" anchor="ctr"/>
          <a:lstStyle/>
          <a:p>
            <a:pPr marL="0" indent="0" algn="ctr">
              <a:buNone/>
            </a:pPr>
            <a:r>
              <a:rPr lang="en-US" sz="900" dirty="0">
                <a:solidFill>
                  <a:srgbClr val="4B5563"/>
                </a:solidFill>
                <a:latin typeface="Calibri" pitchFamily="34" charset="0"/>
                <a:ea typeface="Calibri" pitchFamily="34" charset="-122"/>
                <a:cs typeface="Calibri" pitchFamily="34" charset="-120"/>
              </a:rPr>
              <a:t>Cities</a:t>
            </a:r>
            <a:endParaRPr lang="en-US" sz="900" dirty="0"/>
          </a:p>
        </p:txBody>
      </p:sp>
      <p:sp>
        <p:nvSpPr>
          <p:cNvPr id="24" name="Shape 22"/>
          <p:cNvSpPr/>
          <p:nvPr/>
        </p:nvSpPr>
        <p:spPr>
          <a:xfrm>
            <a:off x="11064240" y="2707277"/>
            <a:ext cx="1005840" cy="1371600"/>
          </a:xfrm>
          <a:prstGeom prst="rect">
            <a:avLst/>
          </a:prstGeom>
          <a:solidFill>
            <a:srgbClr val="F8F9FA"/>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a:p>
        </p:txBody>
      </p:sp>
      <p:sp>
        <p:nvSpPr>
          <p:cNvPr id="25" name="Shape 23"/>
          <p:cNvSpPr/>
          <p:nvPr/>
        </p:nvSpPr>
        <p:spPr>
          <a:xfrm>
            <a:off x="11064240" y="2707277"/>
            <a:ext cx="1005840" cy="64008"/>
          </a:xfrm>
          <a:prstGeom prst="rect">
            <a:avLst/>
          </a:prstGeom>
          <a:solidFill>
            <a:srgbClr val="FF6B00"/>
          </a:solidFill>
          <a:ln w="12700">
            <a:solidFill>
              <a:srgbClr val="FF6B00"/>
            </a:solidFill>
            <a:prstDash val="solid"/>
          </a:ln>
        </p:spPr>
        <p:txBody>
          <a:bodyPr/>
          <a:lstStyle/>
          <a:p>
            <a:endParaRPr lang="en-US"/>
          </a:p>
        </p:txBody>
      </p:sp>
      <p:sp>
        <p:nvSpPr>
          <p:cNvPr id="26" name="Text 24"/>
          <p:cNvSpPr/>
          <p:nvPr/>
        </p:nvSpPr>
        <p:spPr>
          <a:xfrm>
            <a:off x="11064240" y="2798717"/>
            <a:ext cx="1005840" cy="594360"/>
          </a:xfrm>
          <a:prstGeom prst="rect">
            <a:avLst/>
          </a:prstGeom>
          <a:noFill/>
          <a:ln/>
        </p:spPr>
        <p:txBody>
          <a:bodyPr wrap="square" lIns="0" tIns="0" rIns="0" bIns="0" rtlCol="0" anchor="ctr"/>
          <a:lstStyle/>
          <a:p>
            <a:pPr marL="0" indent="0" algn="ctr">
              <a:buNone/>
            </a:pPr>
            <a:r>
              <a:rPr lang="en-US" sz="2600" b="1" dirty="0">
                <a:solidFill>
                  <a:srgbClr val="FF6B00"/>
                </a:solidFill>
                <a:latin typeface="Arial Black" pitchFamily="34" charset="0"/>
                <a:ea typeface="Arial Black" pitchFamily="34" charset="-122"/>
                <a:cs typeface="Arial Black" pitchFamily="34" charset="-120"/>
              </a:rPr>
              <a:t>5</a:t>
            </a:r>
            <a:endParaRPr lang="en-US" sz="2600" dirty="0"/>
          </a:p>
        </p:txBody>
      </p:sp>
      <p:sp>
        <p:nvSpPr>
          <p:cNvPr id="27" name="Text 25"/>
          <p:cNvSpPr/>
          <p:nvPr/>
        </p:nvSpPr>
        <p:spPr>
          <a:xfrm>
            <a:off x="11064240" y="3374789"/>
            <a:ext cx="1005840" cy="502920"/>
          </a:xfrm>
          <a:prstGeom prst="rect">
            <a:avLst/>
          </a:prstGeom>
          <a:noFill/>
          <a:ln/>
        </p:spPr>
        <p:txBody>
          <a:bodyPr wrap="square" lIns="0" tIns="0" rIns="0" bIns="0" rtlCol="0" anchor="ctr"/>
          <a:lstStyle/>
          <a:p>
            <a:pPr marL="0" indent="0" algn="ctr">
              <a:buNone/>
            </a:pPr>
            <a:r>
              <a:rPr lang="en-US" sz="900" dirty="0">
                <a:solidFill>
                  <a:srgbClr val="4B5563"/>
                </a:solidFill>
                <a:latin typeface="Calibri" pitchFamily="34" charset="0"/>
                <a:ea typeface="Calibri" pitchFamily="34" charset="-122"/>
                <a:cs typeface="Calibri" pitchFamily="34" charset="-120"/>
              </a:rPr>
              <a:t>Hypotheses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F8F9FA"/>
          </a:solidFill>
          <a:ln w="12700">
            <a:solidFill>
              <a:srgbClr val="E5E7EB"/>
            </a:solidFill>
            <a:prstDash val="solid"/>
          </a:ln>
        </p:spPr>
        <p:txBody>
          <a:bodyPr/>
          <a:lstStyle/>
          <a:p>
            <a:endParaRPr lang="en-US"/>
          </a:p>
        </p:txBody>
      </p:sp>
      <p:sp>
        <p:nvSpPr>
          <p:cNvPr id="3" name="Text 1"/>
          <p:cNvSpPr/>
          <p:nvPr/>
        </p:nvSpPr>
        <p:spPr>
          <a:xfrm>
            <a:off x="365760" y="91440"/>
            <a:ext cx="6400800" cy="320040"/>
          </a:xfrm>
          <a:prstGeom prst="rect">
            <a:avLst/>
          </a:prstGeom>
          <a:noFill/>
          <a:ln/>
        </p:spPr>
        <p:txBody>
          <a:bodyPr wrap="square" lIns="0" tIns="0" rIns="0" bIns="0" rtlCol="0" anchor="ctr"/>
          <a:lstStyle/>
          <a:p>
            <a:pPr marL="0" indent="0">
              <a:buNone/>
            </a:pPr>
            <a:r>
              <a:rPr lang="en-US" sz="1400" b="1" dirty="0">
                <a:solidFill>
                  <a:srgbClr val="FF6B00"/>
                </a:solidFill>
                <a:latin typeface="Arial Black" pitchFamily="34" charset="0"/>
                <a:ea typeface="Arial Black" pitchFamily="34" charset="-122"/>
                <a:cs typeface="Arial Black" pitchFamily="34" charset="-120"/>
              </a:rPr>
              <a:t>METHODOLOGY &amp; DATASET</a:t>
            </a:r>
            <a:endParaRPr lang="en-US" sz="1400" dirty="0"/>
          </a:p>
        </p:txBody>
      </p:sp>
      <p:sp>
        <p:nvSpPr>
          <p:cNvPr id="4" name="Text 2"/>
          <p:cNvSpPr/>
          <p:nvPr/>
        </p:nvSpPr>
        <p:spPr>
          <a:xfrm>
            <a:off x="10058400" y="91440"/>
            <a:ext cx="1828800" cy="320040"/>
          </a:xfrm>
          <a:prstGeom prst="rect">
            <a:avLst/>
          </a:prstGeom>
          <a:noFill/>
          <a:ln/>
        </p:spPr>
        <p:txBody>
          <a:bodyPr wrap="square" lIns="0" tIns="0" rIns="0" bIns="0"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Slide 2 of 11</a:t>
            </a:r>
            <a:endParaRPr lang="en-US" sz="1100" dirty="0"/>
          </a:p>
        </p:txBody>
      </p:sp>
      <p:sp>
        <p:nvSpPr>
          <p:cNvPr id="5" name="Shape 3"/>
          <p:cNvSpPr/>
          <p:nvPr/>
        </p:nvSpPr>
        <p:spPr>
          <a:xfrm>
            <a:off x="274320" y="731520"/>
            <a:ext cx="11612880" cy="1371600"/>
          </a:xfrm>
          <a:prstGeom prst="rect">
            <a:avLst/>
          </a:prstGeom>
          <a:solidFill>
            <a:srgbClr val="F8F9FA"/>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a:p>
        </p:txBody>
      </p:sp>
      <p:sp>
        <p:nvSpPr>
          <p:cNvPr id="6" name="Shape 4"/>
          <p:cNvSpPr/>
          <p:nvPr/>
        </p:nvSpPr>
        <p:spPr>
          <a:xfrm>
            <a:off x="274320" y="731520"/>
            <a:ext cx="11612880" cy="64008"/>
          </a:xfrm>
          <a:prstGeom prst="rect">
            <a:avLst/>
          </a:prstGeom>
          <a:solidFill>
            <a:srgbClr val="FF6B00"/>
          </a:solidFill>
          <a:ln w="12700">
            <a:solidFill>
              <a:srgbClr val="FF6B00"/>
            </a:solidFill>
            <a:prstDash val="solid"/>
          </a:ln>
        </p:spPr>
        <p:txBody>
          <a:bodyPr/>
          <a:lstStyle/>
          <a:p>
            <a:endParaRPr lang="en-US"/>
          </a:p>
        </p:txBody>
      </p:sp>
      <p:sp>
        <p:nvSpPr>
          <p:cNvPr id="7" name="Text 5"/>
          <p:cNvSpPr/>
          <p:nvPr/>
        </p:nvSpPr>
        <p:spPr>
          <a:xfrm>
            <a:off x="457200" y="777240"/>
            <a:ext cx="11247120" cy="320040"/>
          </a:xfrm>
          <a:prstGeom prst="rect">
            <a:avLst/>
          </a:prstGeom>
          <a:noFill/>
          <a:ln/>
        </p:spPr>
        <p:txBody>
          <a:bodyPr wrap="square" lIns="0" tIns="0" rIns="0" bIns="0" rtlCol="0" anchor="ctr"/>
          <a:lstStyle/>
          <a:p>
            <a:pPr marL="0" indent="0">
              <a:buNone/>
            </a:pPr>
            <a:r>
              <a:rPr lang="en-US" sz="1100" b="1" dirty="0">
                <a:solidFill>
                  <a:srgbClr val="FF6B00"/>
                </a:solidFill>
                <a:latin typeface="Arial Black" pitchFamily="34" charset="0"/>
                <a:ea typeface="Arial Black" pitchFamily="34" charset="-122"/>
                <a:cs typeface="Arial Black" pitchFamily="34" charset="-120"/>
              </a:rPr>
              <a:t>RESEARCH QUESTION</a:t>
            </a:r>
            <a:endParaRPr lang="en-US" sz="1100" dirty="0"/>
          </a:p>
        </p:txBody>
      </p:sp>
      <p:sp>
        <p:nvSpPr>
          <p:cNvPr id="8" name="Text 6"/>
          <p:cNvSpPr/>
          <p:nvPr/>
        </p:nvSpPr>
        <p:spPr>
          <a:xfrm>
            <a:off x="457200" y="1097280"/>
            <a:ext cx="11247120" cy="82296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What factors influence delivery performance and customer behavior in Talabat food delivery orders?</a:t>
            </a:r>
            <a:endParaRPr lang="en-US" sz="1400" dirty="0"/>
          </a:p>
        </p:txBody>
      </p:sp>
      <p:sp>
        <p:nvSpPr>
          <p:cNvPr id="9" name="Shape 7"/>
          <p:cNvSpPr/>
          <p:nvPr/>
        </p:nvSpPr>
        <p:spPr>
          <a:xfrm>
            <a:off x="274320" y="2286000"/>
            <a:ext cx="11612880" cy="1737360"/>
          </a:xfrm>
          <a:prstGeom prst="rect">
            <a:avLst/>
          </a:prstGeom>
          <a:solidFill>
            <a:srgbClr val="F8F9FA"/>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a:p>
        </p:txBody>
      </p:sp>
      <p:sp>
        <p:nvSpPr>
          <p:cNvPr id="10" name="Shape 8"/>
          <p:cNvSpPr/>
          <p:nvPr/>
        </p:nvSpPr>
        <p:spPr>
          <a:xfrm>
            <a:off x="274320" y="2286000"/>
            <a:ext cx="11612880" cy="64008"/>
          </a:xfrm>
          <a:prstGeom prst="rect">
            <a:avLst/>
          </a:prstGeom>
          <a:solidFill>
            <a:srgbClr val="F59E0B"/>
          </a:solidFill>
          <a:ln w="12700">
            <a:solidFill>
              <a:srgbClr val="F59E0B"/>
            </a:solidFill>
            <a:prstDash val="solid"/>
          </a:ln>
        </p:spPr>
        <p:txBody>
          <a:bodyPr/>
          <a:lstStyle/>
          <a:p>
            <a:endParaRPr lang="en-US"/>
          </a:p>
        </p:txBody>
      </p:sp>
      <p:sp>
        <p:nvSpPr>
          <p:cNvPr id="11" name="Text 9"/>
          <p:cNvSpPr/>
          <p:nvPr/>
        </p:nvSpPr>
        <p:spPr>
          <a:xfrm>
            <a:off x="457200" y="2331720"/>
            <a:ext cx="11247120" cy="320040"/>
          </a:xfrm>
          <a:prstGeom prst="rect">
            <a:avLst/>
          </a:prstGeom>
          <a:noFill/>
          <a:ln/>
        </p:spPr>
        <p:txBody>
          <a:bodyPr wrap="square" lIns="0" tIns="0" rIns="0" bIns="0" rtlCol="0" anchor="ctr"/>
          <a:lstStyle/>
          <a:p>
            <a:pPr marL="0" indent="0">
              <a:buNone/>
            </a:pPr>
            <a:r>
              <a:rPr lang="en-US" sz="1100" b="1" dirty="0">
                <a:solidFill>
                  <a:srgbClr val="F59E0B"/>
                </a:solidFill>
                <a:latin typeface="Arial Black" pitchFamily="34" charset="0"/>
                <a:ea typeface="Arial Black" pitchFamily="34" charset="-122"/>
                <a:cs typeface="Arial Black" pitchFamily="34" charset="-120"/>
              </a:rPr>
              <a:t>SAMPLING &amp; BIAS CONTROL</a:t>
            </a:r>
            <a:endParaRPr lang="en-US" sz="1100" dirty="0"/>
          </a:p>
        </p:txBody>
      </p:sp>
      <p:sp>
        <p:nvSpPr>
          <p:cNvPr id="12" name="Text 10"/>
          <p:cNvSpPr/>
          <p:nvPr/>
        </p:nvSpPr>
        <p:spPr>
          <a:xfrm>
            <a:off x="457200" y="2697480"/>
            <a:ext cx="11247120" cy="1188720"/>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Sampling Method: </a:t>
            </a:r>
            <a:r>
              <a:rPr lang="en-US" sz="1200" dirty="0">
                <a:solidFill>
                  <a:srgbClr val="4B5563"/>
                </a:solidFill>
                <a:latin typeface="Calibri" pitchFamily="34" charset="0"/>
                <a:ea typeface="Calibri" pitchFamily="34" charset="-122"/>
                <a:cs typeface="Calibri" pitchFamily="34" charset="-120"/>
              </a:rPr>
              <a:t>Convenience sampling from a publicly available dataset.
</a:t>
            </a:r>
            <a:r>
              <a:rPr lang="en-US" sz="1200" b="1" dirty="0">
                <a:solidFill>
                  <a:srgbClr val="1A1A2E"/>
                </a:solidFill>
                <a:latin typeface="Calibri" pitchFamily="34" charset="0"/>
                <a:ea typeface="Calibri" pitchFamily="34" charset="-122"/>
                <a:cs typeface="Calibri" pitchFamily="34" charset="-120"/>
              </a:rPr>
              <a:t>Bias Identification: </a:t>
            </a:r>
            <a:r>
              <a:rPr lang="en-US" sz="1200" dirty="0">
                <a:solidFill>
                  <a:srgbClr val="4B5563"/>
                </a:solidFill>
                <a:latin typeface="Calibri" pitchFamily="34" charset="0"/>
                <a:ea typeface="Calibri" pitchFamily="34" charset="-122"/>
                <a:cs typeface="Calibri" pitchFamily="34" charset="-120"/>
              </a:rPr>
              <a:t>Confirmation bias identified and controlled.
</a:t>
            </a:r>
            <a:r>
              <a:rPr lang="en-US" sz="1200" b="1" dirty="0">
                <a:solidFill>
                  <a:srgbClr val="1A1A2E"/>
                </a:solidFill>
                <a:latin typeface="Calibri" pitchFamily="34" charset="0"/>
                <a:ea typeface="Calibri" pitchFamily="34" charset="-122"/>
                <a:cs typeface="Calibri" pitchFamily="34" charset="-120"/>
              </a:rPr>
              <a:t>Control Method: </a:t>
            </a:r>
            <a:r>
              <a:rPr lang="en-US" sz="1200" dirty="0">
                <a:solidFill>
                  <a:srgbClr val="4B5563"/>
                </a:solidFill>
                <a:latin typeface="Calibri" pitchFamily="34" charset="0"/>
                <a:ea typeface="Calibri" pitchFamily="34" charset="-122"/>
                <a:cs typeface="Calibri" pitchFamily="34" charset="-120"/>
              </a:rPr>
              <a:t>Hypotheses defined before analysis. Fixed α = 0.05.</a:t>
            </a:r>
            <a:endParaRPr lang="en-US" sz="1200" dirty="0"/>
          </a:p>
        </p:txBody>
      </p:sp>
      <p:sp>
        <p:nvSpPr>
          <p:cNvPr id="13" name="Shape 11"/>
          <p:cNvSpPr/>
          <p:nvPr/>
        </p:nvSpPr>
        <p:spPr>
          <a:xfrm>
            <a:off x="274320" y="4270248"/>
            <a:ext cx="11612880" cy="2404872"/>
          </a:xfrm>
          <a:prstGeom prst="rect">
            <a:avLst/>
          </a:prstGeom>
          <a:solidFill>
            <a:srgbClr val="F8F9FA"/>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a:p>
        </p:txBody>
      </p:sp>
      <p:sp>
        <p:nvSpPr>
          <p:cNvPr id="14" name="Shape 12"/>
          <p:cNvSpPr/>
          <p:nvPr/>
        </p:nvSpPr>
        <p:spPr>
          <a:xfrm>
            <a:off x="274320" y="4206240"/>
            <a:ext cx="11612880" cy="64008"/>
          </a:xfrm>
          <a:prstGeom prst="rect">
            <a:avLst/>
          </a:prstGeom>
          <a:solidFill>
            <a:srgbClr val="10B981"/>
          </a:solidFill>
          <a:ln w="12700">
            <a:solidFill>
              <a:srgbClr val="10B981"/>
            </a:solidFill>
            <a:prstDash val="solid"/>
          </a:ln>
        </p:spPr>
        <p:txBody>
          <a:bodyPr/>
          <a:lstStyle/>
          <a:p>
            <a:endParaRPr lang="en-US"/>
          </a:p>
        </p:txBody>
      </p:sp>
      <p:sp>
        <p:nvSpPr>
          <p:cNvPr id="15" name="Text 13"/>
          <p:cNvSpPr/>
          <p:nvPr/>
        </p:nvSpPr>
        <p:spPr>
          <a:xfrm>
            <a:off x="457200" y="4251960"/>
            <a:ext cx="11247120" cy="320040"/>
          </a:xfrm>
          <a:prstGeom prst="rect">
            <a:avLst/>
          </a:prstGeom>
          <a:noFill/>
          <a:ln/>
        </p:spPr>
        <p:txBody>
          <a:bodyPr wrap="square" lIns="0" tIns="0" rIns="0" bIns="0" rtlCol="0" anchor="ctr"/>
          <a:lstStyle/>
          <a:p>
            <a:pPr marL="0" indent="0">
              <a:buNone/>
            </a:pPr>
            <a:r>
              <a:rPr lang="en-US" sz="1100" b="1" dirty="0">
                <a:solidFill>
                  <a:srgbClr val="10B981"/>
                </a:solidFill>
                <a:latin typeface="Arial Black" pitchFamily="34" charset="0"/>
                <a:ea typeface="Arial Black" pitchFamily="34" charset="-122"/>
                <a:cs typeface="Arial Black" pitchFamily="34" charset="-120"/>
              </a:rPr>
              <a:t>DATASET OVERVIEW</a:t>
            </a:r>
            <a:endParaRPr lang="en-US" sz="1100" dirty="0"/>
          </a:p>
        </p:txBody>
      </p:sp>
      <p:sp>
        <p:nvSpPr>
          <p:cNvPr id="16" name="Text 14"/>
          <p:cNvSpPr/>
          <p:nvPr/>
        </p:nvSpPr>
        <p:spPr>
          <a:xfrm>
            <a:off x="457200" y="4572000"/>
            <a:ext cx="11247120" cy="36576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100,000 samples analyzed · 23 variables</a:t>
            </a:r>
            <a:endParaRPr lang="en-US" sz="1300" dirty="0"/>
          </a:p>
        </p:txBody>
      </p:sp>
      <p:sp>
        <p:nvSpPr>
          <p:cNvPr id="17" name="Text 15"/>
          <p:cNvSpPr/>
          <p:nvPr/>
        </p:nvSpPr>
        <p:spPr>
          <a:xfrm>
            <a:off x="457200" y="4983480"/>
            <a:ext cx="2591772" cy="220980"/>
          </a:xfrm>
          <a:prstGeom prst="rect">
            <a:avLst/>
          </a:prstGeom>
          <a:noFill/>
          <a:ln/>
        </p:spPr>
        <p:txBody>
          <a:bodyPr wrap="square" lIns="0" tIns="0" rIns="0" bIns="0" rtlCol="0" anchor="ctr"/>
          <a:lstStyle/>
          <a:p>
            <a:pPr marL="0" indent="0">
              <a:buNone/>
            </a:pPr>
            <a:r>
              <a:rPr lang="en-US" sz="1100" dirty="0">
                <a:solidFill>
                  <a:srgbClr val="4B5563"/>
                </a:solidFill>
                <a:latin typeface="Calibri" pitchFamily="34" charset="0"/>
                <a:ea typeface="Calibri" pitchFamily="34" charset="-122"/>
                <a:cs typeface="Calibri" pitchFamily="34" charset="-120"/>
              </a:rPr>
              <a:t>• Order &amp; User IDs</a:t>
            </a:r>
            <a:endParaRPr lang="en-US" sz="1100" dirty="0"/>
          </a:p>
        </p:txBody>
      </p:sp>
      <p:sp>
        <p:nvSpPr>
          <p:cNvPr id="18" name="Text 16"/>
          <p:cNvSpPr/>
          <p:nvPr/>
        </p:nvSpPr>
        <p:spPr>
          <a:xfrm>
            <a:off x="457200" y="5276088"/>
            <a:ext cx="2591772" cy="220980"/>
          </a:xfrm>
          <a:prstGeom prst="rect">
            <a:avLst/>
          </a:prstGeom>
          <a:noFill/>
          <a:ln/>
        </p:spPr>
        <p:txBody>
          <a:bodyPr wrap="square" lIns="0" tIns="0" rIns="0" bIns="0" rtlCol="0" anchor="ctr"/>
          <a:lstStyle/>
          <a:p>
            <a:pPr marL="0" indent="0">
              <a:buNone/>
            </a:pPr>
            <a:r>
              <a:rPr lang="en-US" sz="1100" dirty="0">
                <a:solidFill>
                  <a:srgbClr val="4B5563"/>
                </a:solidFill>
                <a:latin typeface="Calibri" pitchFamily="34" charset="0"/>
                <a:ea typeface="Calibri" pitchFamily="34" charset="-122"/>
                <a:cs typeface="Calibri" pitchFamily="34" charset="-120"/>
              </a:rPr>
              <a:t>• Restaurant &amp; Driver IDs</a:t>
            </a:r>
            <a:endParaRPr lang="en-US" sz="1100" dirty="0"/>
          </a:p>
        </p:txBody>
      </p:sp>
      <p:sp>
        <p:nvSpPr>
          <p:cNvPr id="19" name="Text 17"/>
          <p:cNvSpPr/>
          <p:nvPr/>
        </p:nvSpPr>
        <p:spPr>
          <a:xfrm>
            <a:off x="457200" y="5568696"/>
            <a:ext cx="2591772" cy="220980"/>
          </a:xfrm>
          <a:prstGeom prst="rect">
            <a:avLst/>
          </a:prstGeom>
          <a:noFill/>
          <a:ln/>
        </p:spPr>
        <p:txBody>
          <a:bodyPr wrap="square" lIns="0" tIns="0" rIns="0" bIns="0" rtlCol="0" anchor="ctr"/>
          <a:lstStyle/>
          <a:p>
            <a:pPr marL="0" indent="0">
              <a:buNone/>
            </a:pPr>
            <a:r>
              <a:rPr lang="en-US" sz="1100" dirty="0">
                <a:solidFill>
                  <a:srgbClr val="4B5563"/>
                </a:solidFill>
                <a:latin typeface="Calibri" pitchFamily="34" charset="0"/>
                <a:ea typeface="Calibri" pitchFamily="34" charset="-122"/>
                <a:cs typeface="Calibri" pitchFamily="34" charset="-120"/>
              </a:rPr>
              <a:t>• Item Name &amp; Quantity</a:t>
            </a:r>
            <a:endParaRPr lang="en-US" sz="1100" dirty="0"/>
          </a:p>
        </p:txBody>
      </p:sp>
      <p:sp>
        <p:nvSpPr>
          <p:cNvPr id="20" name="Text 18"/>
          <p:cNvSpPr/>
          <p:nvPr/>
        </p:nvSpPr>
        <p:spPr>
          <a:xfrm>
            <a:off x="457200" y="5861304"/>
            <a:ext cx="2591772" cy="220980"/>
          </a:xfrm>
          <a:prstGeom prst="rect">
            <a:avLst/>
          </a:prstGeom>
          <a:noFill/>
          <a:ln/>
        </p:spPr>
        <p:txBody>
          <a:bodyPr wrap="square" lIns="0" tIns="0" rIns="0" bIns="0" rtlCol="0" anchor="ctr"/>
          <a:lstStyle/>
          <a:p>
            <a:pPr marL="0" indent="0">
              <a:buNone/>
            </a:pPr>
            <a:r>
              <a:rPr lang="en-US" sz="1100" dirty="0">
                <a:solidFill>
                  <a:srgbClr val="4B5563"/>
                </a:solidFill>
                <a:latin typeface="Calibri" pitchFamily="34" charset="0"/>
                <a:ea typeface="Calibri" pitchFamily="34" charset="-122"/>
                <a:cs typeface="Calibri" pitchFamily="34" charset="-120"/>
              </a:rPr>
              <a:t>• Total Price</a:t>
            </a:r>
            <a:endParaRPr lang="en-US" sz="1100" dirty="0"/>
          </a:p>
        </p:txBody>
      </p:sp>
      <p:sp>
        <p:nvSpPr>
          <p:cNvPr id="21" name="Text 19"/>
          <p:cNvSpPr/>
          <p:nvPr/>
        </p:nvSpPr>
        <p:spPr>
          <a:xfrm>
            <a:off x="457201" y="6153912"/>
            <a:ext cx="2476368" cy="147828"/>
          </a:xfrm>
          <a:prstGeom prst="rect">
            <a:avLst/>
          </a:prstGeom>
          <a:noFill/>
          <a:ln/>
        </p:spPr>
        <p:txBody>
          <a:bodyPr wrap="square" lIns="0" tIns="0" rIns="0" bIns="0" rtlCol="0" anchor="ctr"/>
          <a:lstStyle/>
          <a:p>
            <a:pPr marL="0" indent="0">
              <a:buNone/>
            </a:pPr>
            <a:r>
              <a:rPr lang="en-US" sz="1100" dirty="0">
                <a:solidFill>
                  <a:srgbClr val="4B5563"/>
                </a:solidFill>
                <a:latin typeface="Calibri" pitchFamily="34" charset="0"/>
                <a:ea typeface="Calibri" pitchFamily="34" charset="-122"/>
                <a:cs typeface="Calibri" pitchFamily="34" charset="-120"/>
              </a:rPr>
              <a:t>• Delivery Duration (min)</a:t>
            </a:r>
            <a:endParaRPr lang="en-US" sz="1100" dirty="0"/>
          </a:p>
        </p:txBody>
      </p:sp>
      <p:sp>
        <p:nvSpPr>
          <p:cNvPr id="22" name="Text 20"/>
          <p:cNvSpPr/>
          <p:nvPr/>
        </p:nvSpPr>
        <p:spPr>
          <a:xfrm>
            <a:off x="457200" y="6446520"/>
            <a:ext cx="2591772" cy="220980"/>
          </a:xfrm>
          <a:prstGeom prst="rect">
            <a:avLst/>
          </a:prstGeom>
          <a:noFill/>
          <a:ln/>
        </p:spPr>
        <p:txBody>
          <a:bodyPr wrap="square" lIns="0" tIns="0" rIns="0" bIns="0" rtlCol="0" anchor="ctr"/>
          <a:lstStyle/>
          <a:p>
            <a:pPr marL="0" indent="0">
              <a:buNone/>
            </a:pPr>
            <a:r>
              <a:rPr lang="en-US" sz="1100" dirty="0">
                <a:solidFill>
                  <a:srgbClr val="4B5563"/>
                </a:solidFill>
                <a:latin typeface="Calibri" pitchFamily="34" charset="0"/>
                <a:ea typeface="Calibri" pitchFamily="34" charset="-122"/>
                <a:cs typeface="Calibri" pitchFamily="34" charset="-120"/>
              </a:rPr>
              <a:t>• City &amp; Distance (km)</a:t>
            </a:r>
            <a:endParaRPr lang="en-US" sz="1100" dirty="0"/>
          </a:p>
        </p:txBody>
      </p:sp>
      <p:sp>
        <p:nvSpPr>
          <p:cNvPr id="23" name="Text 21"/>
          <p:cNvSpPr/>
          <p:nvPr/>
        </p:nvSpPr>
        <p:spPr>
          <a:xfrm>
            <a:off x="3838089" y="5018096"/>
            <a:ext cx="2591772" cy="292608"/>
          </a:xfrm>
          <a:prstGeom prst="rect">
            <a:avLst/>
          </a:prstGeom>
          <a:noFill/>
          <a:ln/>
        </p:spPr>
        <p:txBody>
          <a:bodyPr wrap="square" lIns="0" tIns="0" rIns="0" bIns="0" rtlCol="0" anchor="ctr"/>
          <a:lstStyle/>
          <a:p>
            <a:pPr marL="0" indent="0">
              <a:buNone/>
            </a:pPr>
            <a:r>
              <a:rPr lang="en-US" sz="1100" dirty="0">
                <a:solidFill>
                  <a:srgbClr val="4B5563"/>
                </a:solidFill>
                <a:latin typeface="Calibri" pitchFamily="34" charset="0"/>
                <a:ea typeface="Calibri" pitchFamily="34" charset="-122"/>
                <a:cs typeface="Calibri" pitchFamily="34" charset="-120"/>
              </a:rPr>
              <a:t>• Payment Method</a:t>
            </a:r>
            <a:endParaRPr lang="en-US" sz="1100" dirty="0"/>
          </a:p>
        </p:txBody>
      </p:sp>
      <p:sp>
        <p:nvSpPr>
          <p:cNvPr id="24" name="Text 22"/>
          <p:cNvSpPr/>
          <p:nvPr/>
        </p:nvSpPr>
        <p:spPr>
          <a:xfrm>
            <a:off x="3838089" y="5239512"/>
            <a:ext cx="2591772" cy="292608"/>
          </a:xfrm>
          <a:prstGeom prst="rect">
            <a:avLst/>
          </a:prstGeom>
          <a:noFill/>
          <a:ln/>
        </p:spPr>
        <p:txBody>
          <a:bodyPr wrap="square" lIns="0" tIns="0" rIns="0" bIns="0" rtlCol="0" anchor="ctr"/>
          <a:lstStyle/>
          <a:p>
            <a:pPr marL="0" indent="0">
              <a:buNone/>
            </a:pPr>
            <a:r>
              <a:rPr lang="en-US" sz="1100" dirty="0">
                <a:solidFill>
                  <a:srgbClr val="4B5563"/>
                </a:solidFill>
                <a:latin typeface="Calibri" pitchFamily="34" charset="0"/>
                <a:ea typeface="Calibri" pitchFamily="34" charset="-122"/>
                <a:cs typeface="Calibri" pitchFamily="34" charset="-120"/>
              </a:rPr>
              <a:t>• Order Status</a:t>
            </a:r>
            <a:endParaRPr lang="en-US" sz="1100" dirty="0"/>
          </a:p>
        </p:txBody>
      </p:sp>
      <p:sp>
        <p:nvSpPr>
          <p:cNvPr id="25" name="Text 23"/>
          <p:cNvSpPr/>
          <p:nvPr/>
        </p:nvSpPr>
        <p:spPr>
          <a:xfrm>
            <a:off x="3838089" y="5532120"/>
            <a:ext cx="2591772" cy="292608"/>
          </a:xfrm>
          <a:prstGeom prst="rect">
            <a:avLst/>
          </a:prstGeom>
          <a:noFill/>
          <a:ln/>
        </p:spPr>
        <p:txBody>
          <a:bodyPr wrap="square" lIns="0" tIns="0" rIns="0" bIns="0" rtlCol="0" anchor="ctr"/>
          <a:lstStyle/>
          <a:p>
            <a:pPr marL="0" indent="0">
              <a:buNone/>
            </a:pPr>
            <a:r>
              <a:rPr lang="en-US" sz="1100" dirty="0">
                <a:solidFill>
                  <a:srgbClr val="4B5563"/>
                </a:solidFill>
                <a:latin typeface="Calibri" pitchFamily="34" charset="0"/>
                <a:ea typeface="Calibri" pitchFamily="34" charset="-122"/>
                <a:cs typeface="Calibri" pitchFamily="34" charset="-120"/>
              </a:rPr>
              <a:t>• Driver Vehicle</a:t>
            </a:r>
            <a:endParaRPr lang="en-US" sz="1100" dirty="0"/>
          </a:p>
        </p:txBody>
      </p:sp>
      <p:sp>
        <p:nvSpPr>
          <p:cNvPr id="26" name="Text 24"/>
          <p:cNvSpPr/>
          <p:nvPr/>
        </p:nvSpPr>
        <p:spPr>
          <a:xfrm>
            <a:off x="3838089" y="5824728"/>
            <a:ext cx="2591772" cy="292608"/>
          </a:xfrm>
          <a:prstGeom prst="rect">
            <a:avLst/>
          </a:prstGeom>
          <a:noFill/>
          <a:ln/>
        </p:spPr>
        <p:txBody>
          <a:bodyPr wrap="square" lIns="0" tIns="0" rIns="0" bIns="0" rtlCol="0" anchor="ctr"/>
          <a:lstStyle/>
          <a:p>
            <a:pPr marL="0" indent="0">
              <a:buNone/>
            </a:pPr>
            <a:r>
              <a:rPr lang="en-US" sz="1100" dirty="0">
                <a:solidFill>
                  <a:srgbClr val="4B5563"/>
                </a:solidFill>
                <a:latin typeface="Calibri" pitchFamily="34" charset="0"/>
                <a:ea typeface="Calibri" pitchFamily="34" charset="-122"/>
                <a:cs typeface="Calibri" pitchFamily="34" charset="-120"/>
              </a:rPr>
              <a:t>• Traffic Level</a:t>
            </a:r>
            <a:endParaRPr lang="en-US" sz="1100" dirty="0"/>
          </a:p>
        </p:txBody>
      </p:sp>
      <p:sp>
        <p:nvSpPr>
          <p:cNvPr id="27" name="Text 25"/>
          <p:cNvSpPr/>
          <p:nvPr/>
        </p:nvSpPr>
        <p:spPr>
          <a:xfrm>
            <a:off x="3838089" y="6117336"/>
            <a:ext cx="2591772" cy="292608"/>
          </a:xfrm>
          <a:prstGeom prst="rect">
            <a:avLst/>
          </a:prstGeom>
          <a:noFill/>
          <a:ln/>
        </p:spPr>
        <p:txBody>
          <a:bodyPr wrap="square" lIns="0" tIns="0" rIns="0" bIns="0" rtlCol="0" anchor="ctr"/>
          <a:lstStyle/>
          <a:p>
            <a:pPr marL="0" indent="0">
              <a:buNone/>
            </a:pPr>
            <a:r>
              <a:rPr lang="en-US" sz="1100" dirty="0">
                <a:solidFill>
                  <a:srgbClr val="4B5563"/>
                </a:solidFill>
                <a:latin typeface="Calibri" pitchFamily="34" charset="0"/>
                <a:ea typeface="Calibri" pitchFamily="34" charset="-122"/>
                <a:cs typeface="Calibri" pitchFamily="34" charset="-120"/>
              </a:rPr>
              <a:t>• Driver Availability</a:t>
            </a:r>
            <a:endParaRPr lang="en-US" sz="1100" dirty="0"/>
          </a:p>
        </p:txBody>
      </p:sp>
      <p:sp>
        <p:nvSpPr>
          <p:cNvPr id="28" name="Text 26"/>
          <p:cNvSpPr/>
          <p:nvPr/>
        </p:nvSpPr>
        <p:spPr>
          <a:xfrm>
            <a:off x="3838089" y="6373368"/>
            <a:ext cx="2591772" cy="292608"/>
          </a:xfrm>
          <a:prstGeom prst="rect">
            <a:avLst/>
          </a:prstGeom>
          <a:noFill/>
          <a:ln/>
        </p:spPr>
        <p:txBody>
          <a:bodyPr wrap="square" lIns="0" tIns="0" rIns="0" bIns="0" rtlCol="0" anchor="ctr"/>
          <a:lstStyle/>
          <a:p>
            <a:pPr marL="0" indent="0">
              <a:buNone/>
            </a:pPr>
            <a:r>
              <a:rPr lang="en-US" sz="1200" dirty="0">
                <a:solidFill>
                  <a:srgbClr val="4B5563"/>
                </a:solidFill>
                <a:latin typeface="Calibri" pitchFamily="34" charset="0"/>
                <a:ea typeface="Calibri" pitchFamily="34" charset="-122"/>
                <a:cs typeface="Calibri" pitchFamily="34" charset="-120"/>
              </a:rPr>
              <a:t>• Order &amp; Delivery Timestamps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F8F9FA"/>
          </a:solidFill>
          <a:ln w="12700">
            <a:solidFill>
              <a:srgbClr val="E5E7EB"/>
            </a:solidFill>
            <a:prstDash val="solid"/>
          </a:ln>
        </p:spPr>
        <p:txBody>
          <a:bodyPr/>
          <a:lstStyle/>
          <a:p>
            <a:endParaRPr lang="en-US"/>
          </a:p>
        </p:txBody>
      </p:sp>
      <p:sp>
        <p:nvSpPr>
          <p:cNvPr id="3" name="Text 1"/>
          <p:cNvSpPr/>
          <p:nvPr/>
        </p:nvSpPr>
        <p:spPr>
          <a:xfrm>
            <a:off x="365760" y="91440"/>
            <a:ext cx="8229600" cy="320040"/>
          </a:xfrm>
          <a:prstGeom prst="rect">
            <a:avLst/>
          </a:prstGeom>
          <a:noFill/>
          <a:ln/>
        </p:spPr>
        <p:txBody>
          <a:bodyPr wrap="square" lIns="0" tIns="0" rIns="0" bIns="0" rtlCol="0" anchor="ctr"/>
          <a:lstStyle/>
          <a:p>
            <a:pPr marL="0" indent="0">
              <a:buNone/>
            </a:pPr>
            <a:r>
              <a:rPr lang="en-US" sz="1400" b="1" dirty="0">
                <a:solidFill>
                  <a:srgbClr val="FF6B00"/>
                </a:solidFill>
                <a:latin typeface="Arial Black" pitchFamily="34" charset="0"/>
                <a:ea typeface="Arial Black" pitchFamily="34" charset="-122"/>
                <a:cs typeface="Arial Black" pitchFamily="34" charset="-120"/>
              </a:rPr>
              <a:t>FIGURE 1: ORDERS BY CITY</a:t>
            </a:r>
            <a:endParaRPr lang="en-US" sz="1400" dirty="0"/>
          </a:p>
        </p:txBody>
      </p:sp>
      <p:sp>
        <p:nvSpPr>
          <p:cNvPr id="4" name="Text 2"/>
          <p:cNvSpPr/>
          <p:nvPr/>
        </p:nvSpPr>
        <p:spPr>
          <a:xfrm>
            <a:off x="10058400" y="91440"/>
            <a:ext cx="1828800" cy="320040"/>
          </a:xfrm>
          <a:prstGeom prst="rect">
            <a:avLst/>
          </a:prstGeom>
          <a:noFill/>
          <a:ln/>
        </p:spPr>
        <p:txBody>
          <a:bodyPr wrap="square" lIns="0" tIns="0" rIns="0" bIns="0"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Slide 3 of 11</a:t>
            </a:r>
            <a:endParaRPr lang="en-US" sz="1100" dirty="0"/>
          </a:p>
        </p:txBody>
      </p:sp>
      <p:sp>
        <p:nvSpPr>
          <p:cNvPr id="6" name="Shape 4"/>
          <p:cNvSpPr/>
          <p:nvPr/>
        </p:nvSpPr>
        <p:spPr>
          <a:xfrm>
            <a:off x="274320" y="731520"/>
            <a:ext cx="11612880" cy="64008"/>
          </a:xfrm>
          <a:prstGeom prst="rect">
            <a:avLst/>
          </a:prstGeom>
          <a:solidFill>
            <a:srgbClr val="FF6B00"/>
          </a:solidFill>
          <a:ln w="12700">
            <a:solidFill>
              <a:srgbClr val="FF6B00"/>
            </a:solidFill>
            <a:prstDash val="solid"/>
          </a:ln>
        </p:spPr>
        <p:txBody>
          <a:bodyPr/>
          <a:lstStyle/>
          <a:p>
            <a:endParaRPr lang="en-US"/>
          </a:p>
        </p:txBody>
      </p:sp>
      <p:sp>
        <p:nvSpPr>
          <p:cNvPr id="35" name="Text 33"/>
          <p:cNvSpPr/>
          <p:nvPr/>
        </p:nvSpPr>
        <p:spPr>
          <a:xfrm>
            <a:off x="457200" y="5669280"/>
            <a:ext cx="11247120" cy="914400"/>
          </a:xfrm>
          <a:prstGeom prst="rect">
            <a:avLst/>
          </a:prstGeom>
          <a:noFill/>
          <a:ln/>
        </p:spPr>
        <p:txBody>
          <a:bodyPr wrap="square" rtlCol="0" anchor="ctr"/>
          <a:lstStyle/>
          <a:p>
            <a:pPr marL="0" indent="0">
              <a:buNone/>
            </a:pPr>
            <a:r>
              <a:rPr lang="en-US" sz="1600" dirty="0">
                <a:solidFill>
                  <a:srgbClr val="4B5563"/>
                </a:solidFill>
                <a:latin typeface="Calibri" pitchFamily="34" charset="0"/>
                <a:ea typeface="Calibri" pitchFamily="34" charset="-122"/>
                <a:cs typeface="Calibri" pitchFamily="34" charset="-120"/>
              </a:rPr>
              <a:t>This count plot shows the number of orders across different cities. Orders are fairly evenly distributed across cities, meaning there is no strong geographical bias in demand. This improves the reliability of comparisons across cities.</a:t>
            </a:r>
            <a:endParaRPr lang="en-US" sz="1600" dirty="0"/>
          </a:p>
        </p:txBody>
      </p:sp>
      <p:pic>
        <p:nvPicPr>
          <p:cNvPr id="37" name="Picture 36">
            <a:extLst>
              <a:ext uri="{FF2B5EF4-FFF2-40B4-BE49-F238E27FC236}">
                <a16:creationId xmlns:a16="http://schemas.microsoft.com/office/drawing/2014/main" id="{09562FA7-E522-878E-BC12-D01AE55A575B}"/>
              </a:ext>
            </a:extLst>
          </p:cNvPr>
          <p:cNvPicPr>
            <a:picLocks noChangeAspect="1"/>
          </p:cNvPicPr>
          <p:nvPr/>
        </p:nvPicPr>
        <p:blipFill>
          <a:blip r:embed="rId3"/>
          <a:stretch>
            <a:fillRect/>
          </a:stretch>
        </p:blipFill>
        <p:spPr>
          <a:xfrm>
            <a:off x="1765434" y="850919"/>
            <a:ext cx="8630651" cy="465958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F8F9FA"/>
          </a:solidFill>
          <a:ln w="12700">
            <a:solidFill>
              <a:srgbClr val="E5E7EB"/>
            </a:solidFill>
            <a:prstDash val="solid"/>
          </a:ln>
        </p:spPr>
        <p:txBody>
          <a:bodyPr/>
          <a:lstStyle/>
          <a:p>
            <a:endParaRPr lang="en-US"/>
          </a:p>
        </p:txBody>
      </p:sp>
      <p:sp>
        <p:nvSpPr>
          <p:cNvPr id="3" name="Text 1"/>
          <p:cNvSpPr/>
          <p:nvPr/>
        </p:nvSpPr>
        <p:spPr>
          <a:xfrm>
            <a:off x="365760" y="91440"/>
            <a:ext cx="8229600" cy="320040"/>
          </a:xfrm>
          <a:prstGeom prst="rect">
            <a:avLst/>
          </a:prstGeom>
          <a:noFill/>
          <a:ln/>
        </p:spPr>
        <p:txBody>
          <a:bodyPr wrap="square" lIns="0" tIns="0" rIns="0" bIns="0" rtlCol="0" anchor="ctr"/>
          <a:lstStyle/>
          <a:p>
            <a:pPr marL="0" indent="0">
              <a:buNone/>
            </a:pPr>
            <a:r>
              <a:rPr lang="en-US" sz="1400" b="1" dirty="0">
                <a:solidFill>
                  <a:srgbClr val="FF6B00"/>
                </a:solidFill>
                <a:latin typeface="Arial Black" pitchFamily="34" charset="0"/>
                <a:ea typeface="Arial Black" pitchFamily="34" charset="-122"/>
                <a:cs typeface="Arial Black" pitchFamily="34" charset="-120"/>
              </a:rPr>
              <a:t>FIGURES 2 &amp; 3: ORDER STATUS &amp; PAYMENT METHODS</a:t>
            </a:r>
            <a:endParaRPr lang="en-US" sz="1400" dirty="0"/>
          </a:p>
        </p:txBody>
      </p:sp>
      <p:sp>
        <p:nvSpPr>
          <p:cNvPr id="4" name="Text 2"/>
          <p:cNvSpPr/>
          <p:nvPr/>
        </p:nvSpPr>
        <p:spPr>
          <a:xfrm>
            <a:off x="10058400" y="91440"/>
            <a:ext cx="1828800" cy="320040"/>
          </a:xfrm>
          <a:prstGeom prst="rect">
            <a:avLst/>
          </a:prstGeom>
          <a:noFill/>
          <a:ln/>
        </p:spPr>
        <p:txBody>
          <a:bodyPr wrap="square" lIns="0" tIns="0" rIns="0" bIns="0"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Slide 4 of 11</a:t>
            </a:r>
            <a:endParaRPr lang="en-US" sz="1100" dirty="0"/>
          </a:p>
        </p:txBody>
      </p:sp>
      <p:sp>
        <p:nvSpPr>
          <p:cNvPr id="5" name="Shape 3"/>
          <p:cNvSpPr/>
          <p:nvPr/>
        </p:nvSpPr>
        <p:spPr>
          <a:xfrm>
            <a:off x="6028623" y="795528"/>
            <a:ext cx="5858577" cy="4995672"/>
          </a:xfrm>
          <a:prstGeom prst="rect">
            <a:avLst/>
          </a:prstGeom>
          <a:solidFill>
            <a:srgbClr val="F8F9FA"/>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a:p>
        </p:txBody>
      </p:sp>
      <p:sp>
        <p:nvSpPr>
          <p:cNvPr id="6" name="Shape 4"/>
          <p:cNvSpPr/>
          <p:nvPr/>
        </p:nvSpPr>
        <p:spPr>
          <a:xfrm>
            <a:off x="6028623" y="795528"/>
            <a:ext cx="5858577" cy="72854"/>
          </a:xfrm>
          <a:prstGeom prst="rect">
            <a:avLst/>
          </a:prstGeom>
          <a:solidFill>
            <a:srgbClr val="10B981"/>
          </a:solidFill>
          <a:ln w="12700">
            <a:solidFill>
              <a:srgbClr val="10B981"/>
            </a:solidFill>
            <a:prstDash val="solid"/>
          </a:ln>
        </p:spPr>
        <p:txBody>
          <a:bodyPr/>
          <a:lstStyle/>
          <a:p>
            <a:endParaRPr lang="en-US"/>
          </a:p>
        </p:txBody>
      </p:sp>
      <p:sp>
        <p:nvSpPr>
          <p:cNvPr id="7" name="Text 5"/>
          <p:cNvSpPr/>
          <p:nvPr/>
        </p:nvSpPr>
        <p:spPr>
          <a:xfrm>
            <a:off x="6223716" y="859536"/>
            <a:ext cx="5480604" cy="416306"/>
          </a:xfrm>
          <a:prstGeom prst="rect">
            <a:avLst/>
          </a:prstGeom>
          <a:noFill/>
          <a:ln/>
        </p:spPr>
        <p:txBody>
          <a:bodyPr wrap="square" lIns="0" tIns="0" rIns="0" bIns="0" rtlCol="0" anchor="ctr"/>
          <a:lstStyle/>
          <a:p>
            <a:pPr marL="0" indent="0">
              <a:buNone/>
            </a:pPr>
            <a:r>
              <a:rPr lang="en-US" sz="1200" b="1" dirty="0">
                <a:solidFill>
                  <a:srgbClr val="10B981"/>
                </a:solidFill>
                <a:latin typeface="Arial Black" pitchFamily="34" charset="0"/>
                <a:ea typeface="Arial Black" pitchFamily="34" charset="-122"/>
                <a:cs typeface="Arial Black" pitchFamily="34" charset="-120"/>
              </a:rPr>
              <a:t>Figure 3: Order Status</a:t>
            </a:r>
            <a:endParaRPr lang="en-US" sz="1200" dirty="0"/>
          </a:p>
        </p:txBody>
      </p:sp>
      <p:graphicFrame>
        <p:nvGraphicFramePr>
          <p:cNvPr id="8" name="Chart 0"/>
          <p:cNvGraphicFramePr/>
          <p:nvPr>
            <p:extLst>
              <p:ext uri="{D42A27DB-BD31-4B8C-83A1-F6EECF244321}">
                <p14:modId xmlns:p14="http://schemas.microsoft.com/office/powerpoint/2010/main" val="1243933754"/>
              </p:ext>
            </p:extLst>
          </p:nvPr>
        </p:nvGraphicFramePr>
        <p:xfrm>
          <a:off x="6223716" y="1344168"/>
          <a:ext cx="5480604" cy="3330448"/>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p:nvPr/>
        </p:nvSpPr>
        <p:spPr>
          <a:xfrm>
            <a:off x="6217609" y="4674616"/>
            <a:ext cx="5480604" cy="832612"/>
          </a:xfrm>
          <a:prstGeom prst="rect">
            <a:avLst/>
          </a:prstGeom>
          <a:noFill/>
          <a:ln/>
        </p:spPr>
        <p:txBody>
          <a:bodyPr wrap="square" rtlCol="0" anchor="ctr"/>
          <a:lstStyle/>
          <a:p>
            <a:pPr marL="0" indent="0">
              <a:buNone/>
            </a:pPr>
            <a:r>
              <a:rPr lang="en-US" sz="1400" dirty="0">
                <a:solidFill>
                  <a:srgbClr val="4B5563"/>
                </a:solidFill>
                <a:latin typeface="Calibri" pitchFamily="34" charset="0"/>
                <a:ea typeface="Calibri" pitchFamily="34" charset="-122"/>
                <a:cs typeface="Calibri" pitchFamily="34" charset="-120"/>
              </a:rPr>
              <a:t>Most orders are successfully delivered (84%), with a smaller portion being cancelled (10%) or in transit (6%). This indicates the delivery system is efficient and reliable with a high completion rate.</a:t>
            </a:r>
            <a:endParaRPr lang="en-US" sz="1400" dirty="0"/>
          </a:p>
        </p:txBody>
      </p:sp>
      <p:sp>
        <p:nvSpPr>
          <p:cNvPr id="15" name="Shape 7"/>
          <p:cNvSpPr/>
          <p:nvPr/>
        </p:nvSpPr>
        <p:spPr>
          <a:xfrm>
            <a:off x="237423" y="795528"/>
            <a:ext cx="5858577" cy="4995672"/>
          </a:xfrm>
          <a:prstGeom prst="rect">
            <a:avLst/>
          </a:prstGeom>
          <a:solidFill>
            <a:srgbClr val="F8F9FA"/>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a:p>
        </p:txBody>
      </p:sp>
      <p:sp>
        <p:nvSpPr>
          <p:cNvPr id="16" name="Shape 8"/>
          <p:cNvSpPr/>
          <p:nvPr/>
        </p:nvSpPr>
        <p:spPr>
          <a:xfrm>
            <a:off x="176463" y="795528"/>
            <a:ext cx="5858577" cy="72854"/>
          </a:xfrm>
          <a:prstGeom prst="rect">
            <a:avLst/>
          </a:prstGeom>
          <a:solidFill>
            <a:srgbClr val="F59E0B"/>
          </a:solidFill>
          <a:ln w="12700">
            <a:solidFill>
              <a:srgbClr val="F59E0B"/>
            </a:solidFill>
            <a:prstDash val="solid"/>
          </a:ln>
        </p:spPr>
        <p:txBody>
          <a:bodyPr/>
          <a:lstStyle/>
          <a:p>
            <a:endParaRPr lang="en-US"/>
          </a:p>
        </p:txBody>
      </p:sp>
      <p:sp>
        <p:nvSpPr>
          <p:cNvPr id="17" name="Text 9"/>
          <p:cNvSpPr/>
          <p:nvPr/>
        </p:nvSpPr>
        <p:spPr>
          <a:xfrm>
            <a:off x="371556" y="859536"/>
            <a:ext cx="5480604" cy="416306"/>
          </a:xfrm>
          <a:prstGeom prst="rect">
            <a:avLst/>
          </a:prstGeom>
          <a:noFill/>
          <a:ln/>
        </p:spPr>
        <p:txBody>
          <a:bodyPr wrap="square" lIns="0" tIns="0" rIns="0" bIns="0" rtlCol="0" anchor="ctr"/>
          <a:lstStyle/>
          <a:p>
            <a:pPr marL="0" indent="0">
              <a:buNone/>
            </a:pPr>
            <a:r>
              <a:rPr lang="en-US" sz="1200" b="1" dirty="0">
                <a:solidFill>
                  <a:srgbClr val="F59E0B"/>
                </a:solidFill>
                <a:latin typeface="Arial Black" pitchFamily="34" charset="0"/>
                <a:ea typeface="Arial Black" pitchFamily="34" charset="-122"/>
                <a:cs typeface="Arial Black" pitchFamily="34" charset="-120"/>
              </a:rPr>
              <a:t>Figure 2: Payment Methods</a:t>
            </a:r>
            <a:endParaRPr lang="en-US" sz="1200" dirty="0"/>
          </a:p>
        </p:txBody>
      </p:sp>
      <p:graphicFrame>
        <p:nvGraphicFramePr>
          <p:cNvPr id="18" name="Chart 1"/>
          <p:cNvGraphicFramePr/>
          <p:nvPr>
            <p:extLst>
              <p:ext uri="{D42A27DB-BD31-4B8C-83A1-F6EECF244321}">
                <p14:modId xmlns:p14="http://schemas.microsoft.com/office/powerpoint/2010/main" val="975465488"/>
              </p:ext>
            </p:extLst>
          </p:nvPr>
        </p:nvGraphicFramePr>
        <p:xfrm>
          <a:off x="371556" y="1344168"/>
          <a:ext cx="5480604" cy="3330448"/>
        </p:xfrm>
        <a:graphic>
          <a:graphicData uri="http://schemas.openxmlformats.org/drawingml/2006/chart">
            <c:chart xmlns:c="http://schemas.openxmlformats.org/drawingml/2006/chart" xmlns:r="http://schemas.openxmlformats.org/officeDocument/2006/relationships" r:id="rId4"/>
          </a:graphicData>
        </a:graphic>
      </p:graphicFrame>
      <p:sp>
        <p:nvSpPr>
          <p:cNvPr id="19" name="Text 10"/>
          <p:cNvSpPr/>
          <p:nvPr/>
        </p:nvSpPr>
        <p:spPr>
          <a:xfrm>
            <a:off x="371556" y="4674616"/>
            <a:ext cx="5480604" cy="832612"/>
          </a:xfrm>
          <a:prstGeom prst="rect">
            <a:avLst/>
          </a:prstGeom>
          <a:noFill/>
          <a:ln/>
        </p:spPr>
        <p:txBody>
          <a:bodyPr wrap="square" rtlCol="0" anchor="ctr"/>
          <a:lstStyle/>
          <a:p>
            <a:pPr marL="0" indent="0">
              <a:buNone/>
            </a:pPr>
            <a:r>
              <a:rPr lang="en-US" sz="1400" dirty="0">
                <a:solidFill>
                  <a:srgbClr val="4B5563"/>
                </a:solidFill>
                <a:latin typeface="Calibri" pitchFamily="34" charset="0"/>
                <a:ea typeface="Calibri" pitchFamily="34" charset="-122"/>
                <a:cs typeface="Calibri" pitchFamily="34" charset="-120"/>
              </a:rPr>
              <a:t>Payment methods are almost equally distributed (≈33% each), indicating customers do not strongly prefer one </a:t>
            </a:r>
            <a:r>
              <a:rPr lang="en-US" sz="1600" dirty="0">
                <a:solidFill>
                  <a:srgbClr val="4B5563"/>
                </a:solidFill>
                <a:latin typeface="Calibri" pitchFamily="34" charset="0"/>
                <a:ea typeface="Calibri" pitchFamily="34" charset="-122"/>
                <a:cs typeface="Calibri" pitchFamily="34" charset="-120"/>
              </a:rPr>
              <a:t>payment</a:t>
            </a:r>
            <a:r>
              <a:rPr lang="en-US" sz="1400" dirty="0">
                <a:solidFill>
                  <a:srgbClr val="4B5563"/>
                </a:solidFill>
                <a:latin typeface="Calibri" pitchFamily="34" charset="0"/>
                <a:ea typeface="Calibri" pitchFamily="34" charset="-122"/>
                <a:cs typeface="Calibri" pitchFamily="34" charset="-120"/>
              </a:rPr>
              <a:t> option. All payment systems are equally accessible and widely adopted.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F8F9FA"/>
          </a:solidFill>
          <a:ln w="12700">
            <a:solidFill>
              <a:srgbClr val="E5E7EB"/>
            </a:solidFill>
            <a:prstDash val="solid"/>
          </a:ln>
        </p:spPr>
        <p:txBody>
          <a:bodyPr/>
          <a:lstStyle/>
          <a:p>
            <a:endParaRPr lang="en-US"/>
          </a:p>
        </p:txBody>
      </p:sp>
      <p:sp>
        <p:nvSpPr>
          <p:cNvPr id="3" name="Text 1"/>
          <p:cNvSpPr/>
          <p:nvPr/>
        </p:nvSpPr>
        <p:spPr>
          <a:xfrm>
            <a:off x="365760" y="91440"/>
            <a:ext cx="8229600" cy="320040"/>
          </a:xfrm>
          <a:prstGeom prst="rect">
            <a:avLst/>
          </a:prstGeom>
          <a:noFill/>
          <a:ln/>
        </p:spPr>
        <p:txBody>
          <a:bodyPr wrap="square" lIns="0" tIns="0" rIns="0" bIns="0" rtlCol="0" anchor="ctr"/>
          <a:lstStyle/>
          <a:p>
            <a:pPr marL="0" indent="0">
              <a:buNone/>
            </a:pPr>
            <a:r>
              <a:rPr lang="en-US" sz="1400" b="1" dirty="0">
                <a:solidFill>
                  <a:srgbClr val="FF6B00"/>
                </a:solidFill>
                <a:latin typeface="Arial Black" pitchFamily="34" charset="0"/>
                <a:ea typeface="Arial Black" pitchFamily="34" charset="-122"/>
                <a:cs typeface="Arial Black" pitchFamily="34" charset="-120"/>
              </a:rPr>
              <a:t>FIGURES 4 &amp; 5: TRAFFIC LEVELS &amp; TOTAL PRICE</a:t>
            </a:r>
            <a:endParaRPr lang="en-US" sz="1400" dirty="0"/>
          </a:p>
        </p:txBody>
      </p:sp>
      <p:sp>
        <p:nvSpPr>
          <p:cNvPr id="4" name="Text 2"/>
          <p:cNvSpPr/>
          <p:nvPr/>
        </p:nvSpPr>
        <p:spPr>
          <a:xfrm>
            <a:off x="10058400" y="91440"/>
            <a:ext cx="1828800" cy="320040"/>
          </a:xfrm>
          <a:prstGeom prst="rect">
            <a:avLst/>
          </a:prstGeom>
          <a:noFill/>
          <a:ln/>
        </p:spPr>
        <p:txBody>
          <a:bodyPr wrap="square" lIns="0" tIns="0" rIns="0" bIns="0"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Slide 5 of 11</a:t>
            </a:r>
            <a:endParaRPr lang="en-US" sz="1100" dirty="0"/>
          </a:p>
        </p:txBody>
      </p:sp>
      <p:sp>
        <p:nvSpPr>
          <p:cNvPr id="5" name="Shape 3"/>
          <p:cNvSpPr/>
          <p:nvPr/>
        </p:nvSpPr>
        <p:spPr>
          <a:xfrm>
            <a:off x="274320" y="731520"/>
            <a:ext cx="5669280" cy="4389120"/>
          </a:xfrm>
          <a:prstGeom prst="rect">
            <a:avLst/>
          </a:prstGeom>
          <a:solidFill>
            <a:srgbClr val="F8F9FA"/>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a:p>
        </p:txBody>
      </p:sp>
      <p:sp>
        <p:nvSpPr>
          <p:cNvPr id="6" name="Shape 4"/>
          <p:cNvSpPr/>
          <p:nvPr/>
        </p:nvSpPr>
        <p:spPr>
          <a:xfrm>
            <a:off x="274320" y="731520"/>
            <a:ext cx="5669280" cy="64008"/>
          </a:xfrm>
          <a:prstGeom prst="rect">
            <a:avLst/>
          </a:prstGeom>
          <a:solidFill>
            <a:srgbClr val="EF4444"/>
          </a:solidFill>
          <a:ln w="12700">
            <a:solidFill>
              <a:srgbClr val="EF4444"/>
            </a:solidFill>
            <a:prstDash val="solid"/>
          </a:ln>
        </p:spPr>
        <p:txBody>
          <a:bodyPr/>
          <a:lstStyle/>
          <a:p>
            <a:endParaRPr lang="en-US"/>
          </a:p>
        </p:txBody>
      </p:sp>
      <p:sp>
        <p:nvSpPr>
          <p:cNvPr id="7" name="Text 5"/>
          <p:cNvSpPr/>
          <p:nvPr/>
        </p:nvSpPr>
        <p:spPr>
          <a:xfrm>
            <a:off x="457200" y="795528"/>
            <a:ext cx="5303520" cy="365760"/>
          </a:xfrm>
          <a:prstGeom prst="rect">
            <a:avLst/>
          </a:prstGeom>
          <a:noFill/>
          <a:ln/>
        </p:spPr>
        <p:txBody>
          <a:bodyPr wrap="square" lIns="0" tIns="0" rIns="0" bIns="0" rtlCol="0" anchor="ctr"/>
          <a:lstStyle/>
          <a:p>
            <a:pPr marL="0" indent="0">
              <a:buNone/>
            </a:pPr>
            <a:r>
              <a:rPr lang="en-US" sz="1200" b="1" dirty="0">
                <a:solidFill>
                  <a:srgbClr val="EF4444"/>
                </a:solidFill>
                <a:latin typeface="Arial Black" pitchFamily="34" charset="0"/>
                <a:ea typeface="Arial Black" pitchFamily="34" charset="-122"/>
                <a:cs typeface="Arial Black" pitchFamily="34" charset="-120"/>
              </a:rPr>
              <a:t>Figure 4: Traffic Levels</a:t>
            </a:r>
            <a:endParaRPr lang="en-US" sz="1200" dirty="0"/>
          </a:p>
        </p:txBody>
      </p:sp>
      <p:graphicFrame>
        <p:nvGraphicFramePr>
          <p:cNvPr id="8" name="Chart 0"/>
          <p:cNvGraphicFramePr/>
          <p:nvPr>
            <p:extLst>
              <p:ext uri="{D42A27DB-BD31-4B8C-83A1-F6EECF244321}">
                <p14:modId xmlns:p14="http://schemas.microsoft.com/office/powerpoint/2010/main" val="2166575403"/>
              </p:ext>
            </p:extLst>
          </p:nvPr>
        </p:nvGraphicFramePr>
        <p:xfrm>
          <a:off x="457200" y="1280160"/>
          <a:ext cx="530352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p:nvPr/>
        </p:nvSpPr>
        <p:spPr>
          <a:xfrm>
            <a:off x="457200" y="4389120"/>
            <a:ext cx="5303520" cy="731520"/>
          </a:xfrm>
          <a:prstGeom prst="rect">
            <a:avLst/>
          </a:prstGeom>
          <a:noFill/>
          <a:ln/>
        </p:spPr>
        <p:txBody>
          <a:bodyPr wrap="square" rtlCol="0" anchor="ctr"/>
          <a:lstStyle/>
          <a:p>
            <a:pPr marL="0" indent="0">
              <a:buNone/>
            </a:pPr>
            <a:r>
              <a:rPr lang="en-US" sz="1400" dirty="0">
                <a:solidFill>
                  <a:srgbClr val="4B5563"/>
                </a:solidFill>
                <a:latin typeface="Calibri" pitchFamily="34" charset="0"/>
                <a:ea typeface="Calibri" pitchFamily="34" charset="-122"/>
                <a:cs typeface="Calibri" pitchFamily="34" charset="-120"/>
              </a:rPr>
              <a:t>Low traffic appears most frequently (45%), while high traffic occurs less often (29%). Most deliveries happen under relatively smooth traffic conditions.</a:t>
            </a:r>
            <a:endParaRPr lang="en-US" sz="1400" dirty="0"/>
          </a:p>
        </p:txBody>
      </p:sp>
      <p:sp>
        <p:nvSpPr>
          <p:cNvPr id="10" name="Shape 7"/>
          <p:cNvSpPr/>
          <p:nvPr/>
        </p:nvSpPr>
        <p:spPr>
          <a:xfrm>
            <a:off x="6217920" y="731520"/>
            <a:ext cx="5669280" cy="4389120"/>
          </a:xfrm>
          <a:prstGeom prst="rect">
            <a:avLst/>
          </a:prstGeom>
          <a:solidFill>
            <a:srgbClr val="F8F9FA"/>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a:p>
        </p:txBody>
      </p:sp>
      <p:sp>
        <p:nvSpPr>
          <p:cNvPr id="11" name="Shape 8"/>
          <p:cNvSpPr/>
          <p:nvPr/>
        </p:nvSpPr>
        <p:spPr>
          <a:xfrm>
            <a:off x="6217920" y="731520"/>
            <a:ext cx="5669280" cy="64008"/>
          </a:xfrm>
          <a:prstGeom prst="rect">
            <a:avLst/>
          </a:prstGeom>
          <a:solidFill>
            <a:srgbClr val="8B5CF6"/>
          </a:solidFill>
          <a:ln w="12700">
            <a:solidFill>
              <a:srgbClr val="8B5CF6"/>
            </a:solidFill>
            <a:prstDash val="solid"/>
          </a:ln>
        </p:spPr>
        <p:txBody>
          <a:bodyPr/>
          <a:lstStyle/>
          <a:p>
            <a:endParaRPr lang="en-US"/>
          </a:p>
        </p:txBody>
      </p:sp>
      <p:sp>
        <p:nvSpPr>
          <p:cNvPr id="12" name="Text 9"/>
          <p:cNvSpPr/>
          <p:nvPr/>
        </p:nvSpPr>
        <p:spPr>
          <a:xfrm>
            <a:off x="6400800" y="795528"/>
            <a:ext cx="5516880" cy="365760"/>
          </a:xfrm>
          <a:prstGeom prst="rect">
            <a:avLst/>
          </a:prstGeom>
          <a:noFill/>
          <a:ln/>
        </p:spPr>
        <p:txBody>
          <a:bodyPr wrap="square" lIns="0" tIns="0" rIns="0" bIns="0" rtlCol="0" anchor="ctr"/>
          <a:lstStyle/>
          <a:p>
            <a:pPr marL="0" indent="0">
              <a:buNone/>
            </a:pPr>
            <a:r>
              <a:rPr lang="en-US" sz="1200" b="1" dirty="0">
                <a:solidFill>
                  <a:srgbClr val="8B5CF6"/>
                </a:solidFill>
                <a:latin typeface="Arial Black" pitchFamily="34" charset="0"/>
                <a:ea typeface="Arial Black" pitchFamily="34" charset="-122"/>
                <a:cs typeface="Arial Black" pitchFamily="34" charset="-120"/>
              </a:rPr>
              <a:t>Figure 5: Distribution of Total Price</a:t>
            </a:r>
            <a:endParaRPr lang="en-US" sz="1200" dirty="0"/>
          </a:p>
        </p:txBody>
      </p:sp>
      <p:sp>
        <p:nvSpPr>
          <p:cNvPr id="14" name="Text 10"/>
          <p:cNvSpPr/>
          <p:nvPr/>
        </p:nvSpPr>
        <p:spPr>
          <a:xfrm>
            <a:off x="6400800" y="4389120"/>
            <a:ext cx="5516880" cy="731520"/>
          </a:xfrm>
          <a:prstGeom prst="rect">
            <a:avLst/>
          </a:prstGeom>
          <a:noFill/>
          <a:ln/>
        </p:spPr>
        <p:txBody>
          <a:bodyPr wrap="square" rtlCol="0" anchor="ctr"/>
          <a:lstStyle/>
          <a:p>
            <a:pPr marL="0" indent="0">
              <a:buNone/>
            </a:pPr>
            <a:r>
              <a:rPr lang="en-US" sz="1200" dirty="0">
                <a:solidFill>
                  <a:srgbClr val="4B5563"/>
                </a:solidFill>
                <a:latin typeface="Calibri" pitchFamily="34" charset="0"/>
                <a:ea typeface="Calibri" pitchFamily="34" charset="-122"/>
                <a:cs typeface="Calibri" pitchFamily="34" charset="-120"/>
              </a:rPr>
              <a:t>Most orders fall within a moderate price range (100-150 EGP), with fewer extremely high or low values. Customer spending behavior is relatively consistent and not highly skewed.</a:t>
            </a:r>
            <a:endParaRPr lang="en-US" sz="1200" dirty="0"/>
          </a:p>
        </p:txBody>
      </p:sp>
      <p:pic>
        <p:nvPicPr>
          <p:cNvPr id="16" name="Picture 15">
            <a:extLst>
              <a:ext uri="{FF2B5EF4-FFF2-40B4-BE49-F238E27FC236}">
                <a16:creationId xmlns:a16="http://schemas.microsoft.com/office/drawing/2014/main" id="{3EB9B592-03FC-4541-6EEF-CCDE9F44C935}"/>
              </a:ext>
            </a:extLst>
          </p:cNvPr>
          <p:cNvPicPr>
            <a:picLocks noChangeAspect="1"/>
          </p:cNvPicPr>
          <p:nvPr/>
        </p:nvPicPr>
        <p:blipFill>
          <a:blip r:embed="rId4"/>
          <a:stretch>
            <a:fillRect/>
          </a:stretch>
        </p:blipFill>
        <p:spPr>
          <a:xfrm>
            <a:off x="6251081" y="1280160"/>
            <a:ext cx="5483719" cy="309779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F8F9FA"/>
          </a:solidFill>
          <a:ln w="12700">
            <a:solidFill>
              <a:srgbClr val="E5E7EB"/>
            </a:solidFill>
            <a:prstDash val="solid"/>
          </a:ln>
        </p:spPr>
        <p:txBody>
          <a:bodyPr/>
          <a:lstStyle/>
          <a:p>
            <a:endParaRPr lang="en-US"/>
          </a:p>
        </p:txBody>
      </p:sp>
      <p:sp>
        <p:nvSpPr>
          <p:cNvPr id="3" name="Text 1"/>
          <p:cNvSpPr/>
          <p:nvPr/>
        </p:nvSpPr>
        <p:spPr>
          <a:xfrm>
            <a:off x="365760" y="91440"/>
            <a:ext cx="8229600" cy="320040"/>
          </a:xfrm>
          <a:prstGeom prst="rect">
            <a:avLst/>
          </a:prstGeom>
          <a:noFill/>
          <a:ln/>
        </p:spPr>
        <p:txBody>
          <a:bodyPr wrap="square" lIns="0" tIns="0" rIns="0" bIns="0" rtlCol="0" anchor="ctr"/>
          <a:lstStyle/>
          <a:p>
            <a:pPr marL="0" indent="0">
              <a:buNone/>
            </a:pPr>
            <a:r>
              <a:rPr lang="en-US" sz="1400" b="1" dirty="0">
                <a:solidFill>
                  <a:srgbClr val="FF6B00"/>
                </a:solidFill>
                <a:latin typeface="Arial Black" pitchFamily="34" charset="0"/>
                <a:ea typeface="Arial Black" pitchFamily="34" charset="-122"/>
                <a:cs typeface="Arial Black" pitchFamily="34" charset="-120"/>
              </a:rPr>
              <a:t>FIGURE 6: DELIVERY DURATION DISTRIBUTION</a:t>
            </a:r>
            <a:endParaRPr lang="en-US" sz="1400" dirty="0"/>
          </a:p>
        </p:txBody>
      </p:sp>
      <p:sp>
        <p:nvSpPr>
          <p:cNvPr id="4" name="Text 2"/>
          <p:cNvSpPr/>
          <p:nvPr/>
        </p:nvSpPr>
        <p:spPr>
          <a:xfrm>
            <a:off x="10058400" y="91440"/>
            <a:ext cx="1828800" cy="320040"/>
          </a:xfrm>
          <a:prstGeom prst="rect">
            <a:avLst/>
          </a:prstGeom>
          <a:noFill/>
          <a:ln/>
        </p:spPr>
        <p:txBody>
          <a:bodyPr wrap="square" lIns="0" tIns="0" rIns="0" bIns="0"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Slide 6 of 11</a:t>
            </a:r>
            <a:endParaRPr lang="en-US" sz="1100" dirty="0"/>
          </a:p>
        </p:txBody>
      </p:sp>
      <p:sp>
        <p:nvSpPr>
          <p:cNvPr id="5" name="Shape 3"/>
          <p:cNvSpPr/>
          <p:nvPr/>
        </p:nvSpPr>
        <p:spPr>
          <a:xfrm>
            <a:off x="274320" y="803708"/>
            <a:ext cx="11612880" cy="5634413"/>
          </a:xfrm>
          <a:prstGeom prst="rect">
            <a:avLst/>
          </a:prstGeom>
          <a:solidFill>
            <a:srgbClr val="F8F9FA"/>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a:p>
        </p:txBody>
      </p:sp>
      <p:sp>
        <p:nvSpPr>
          <p:cNvPr id="6" name="Shape 4"/>
          <p:cNvSpPr/>
          <p:nvPr/>
        </p:nvSpPr>
        <p:spPr>
          <a:xfrm>
            <a:off x="274320" y="731520"/>
            <a:ext cx="11612880" cy="64008"/>
          </a:xfrm>
          <a:prstGeom prst="rect">
            <a:avLst/>
          </a:prstGeom>
          <a:solidFill>
            <a:srgbClr val="3B82F6"/>
          </a:solidFill>
          <a:ln w="12700">
            <a:solidFill>
              <a:srgbClr val="3B82F6"/>
            </a:solidFill>
            <a:prstDash val="solid"/>
          </a:ln>
        </p:spPr>
        <p:txBody>
          <a:bodyPr/>
          <a:lstStyle/>
          <a:p>
            <a:endParaRPr lang="en-US"/>
          </a:p>
        </p:txBody>
      </p:sp>
      <p:sp>
        <p:nvSpPr>
          <p:cNvPr id="8" name="Text 5"/>
          <p:cNvSpPr/>
          <p:nvPr/>
        </p:nvSpPr>
        <p:spPr>
          <a:xfrm>
            <a:off x="472440" y="5615162"/>
            <a:ext cx="11247120" cy="731520"/>
          </a:xfrm>
          <a:prstGeom prst="rect">
            <a:avLst/>
          </a:prstGeom>
          <a:noFill/>
          <a:ln/>
        </p:spPr>
        <p:txBody>
          <a:bodyPr wrap="square" rtlCol="0" anchor="ctr"/>
          <a:lstStyle/>
          <a:p>
            <a:pPr marL="0" indent="0">
              <a:buNone/>
            </a:pPr>
            <a:r>
              <a:rPr lang="en-US" sz="1400" dirty="0">
                <a:solidFill>
                  <a:srgbClr val="4B5563"/>
                </a:solidFill>
                <a:latin typeface="Calibri" pitchFamily="34" charset="0"/>
                <a:ea typeface="Calibri" pitchFamily="34" charset="-122"/>
                <a:cs typeface="Calibri" pitchFamily="34" charset="-120"/>
              </a:rPr>
              <a:t>This graph shows the spread of delivery times in minutes for all orders. Delivery durations cluster around a central range (approximately 30-45 minutes), indicating consistent service times. There are few extreme delays, suggesting good operational efficiency.</a:t>
            </a:r>
            <a:endParaRPr lang="en-US" sz="1400" dirty="0"/>
          </a:p>
        </p:txBody>
      </p:sp>
      <p:pic>
        <p:nvPicPr>
          <p:cNvPr id="10" name="Picture 9">
            <a:extLst>
              <a:ext uri="{FF2B5EF4-FFF2-40B4-BE49-F238E27FC236}">
                <a16:creationId xmlns:a16="http://schemas.microsoft.com/office/drawing/2014/main" id="{516E6D1B-51DF-4D6E-6A57-7F82A15ED1B0}"/>
              </a:ext>
            </a:extLst>
          </p:cNvPr>
          <p:cNvPicPr>
            <a:picLocks noChangeAspect="1"/>
          </p:cNvPicPr>
          <p:nvPr/>
        </p:nvPicPr>
        <p:blipFill>
          <a:blip r:embed="rId3"/>
          <a:stretch>
            <a:fillRect/>
          </a:stretch>
        </p:blipFill>
        <p:spPr>
          <a:xfrm>
            <a:off x="1182353" y="803709"/>
            <a:ext cx="8941361" cy="472001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F8F9FA"/>
          </a:solidFill>
          <a:ln w="12700">
            <a:solidFill>
              <a:srgbClr val="E5E7EB"/>
            </a:solidFill>
            <a:prstDash val="solid"/>
          </a:ln>
        </p:spPr>
        <p:txBody>
          <a:bodyPr/>
          <a:lstStyle/>
          <a:p>
            <a:endParaRPr lang="en-US"/>
          </a:p>
        </p:txBody>
      </p:sp>
      <p:sp>
        <p:nvSpPr>
          <p:cNvPr id="3" name="Text 1"/>
          <p:cNvSpPr/>
          <p:nvPr/>
        </p:nvSpPr>
        <p:spPr>
          <a:xfrm>
            <a:off x="365760" y="91440"/>
            <a:ext cx="8229600" cy="320040"/>
          </a:xfrm>
          <a:prstGeom prst="rect">
            <a:avLst/>
          </a:prstGeom>
          <a:noFill/>
          <a:ln/>
        </p:spPr>
        <p:txBody>
          <a:bodyPr wrap="square" lIns="0" tIns="0" rIns="0" bIns="0" rtlCol="0" anchor="ctr"/>
          <a:lstStyle/>
          <a:p>
            <a:pPr marL="0" indent="0">
              <a:buNone/>
            </a:pPr>
            <a:r>
              <a:rPr lang="en-US" sz="1400" b="1" dirty="0">
                <a:solidFill>
                  <a:srgbClr val="FF6B00"/>
                </a:solidFill>
                <a:latin typeface="Arial Black" pitchFamily="34" charset="0"/>
                <a:ea typeface="Arial Black" pitchFamily="34" charset="-122"/>
                <a:cs typeface="Arial Black" pitchFamily="34" charset="-120"/>
              </a:rPr>
              <a:t>FIGURE 7: TOTAL PRICE BY QUANTITY (BOXPLOT)</a:t>
            </a:r>
            <a:endParaRPr lang="en-US" sz="1400" dirty="0"/>
          </a:p>
        </p:txBody>
      </p:sp>
      <p:sp>
        <p:nvSpPr>
          <p:cNvPr id="4" name="Text 2"/>
          <p:cNvSpPr/>
          <p:nvPr/>
        </p:nvSpPr>
        <p:spPr>
          <a:xfrm>
            <a:off x="10058400" y="91440"/>
            <a:ext cx="1828800" cy="320040"/>
          </a:xfrm>
          <a:prstGeom prst="rect">
            <a:avLst/>
          </a:prstGeom>
          <a:noFill/>
          <a:ln/>
        </p:spPr>
        <p:txBody>
          <a:bodyPr wrap="square" lIns="0" tIns="0" rIns="0" bIns="0"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Slide 7 of 11</a:t>
            </a:r>
            <a:endParaRPr lang="en-US" sz="1100" dirty="0"/>
          </a:p>
        </p:txBody>
      </p:sp>
      <p:sp>
        <p:nvSpPr>
          <p:cNvPr id="5" name="Shape 3"/>
          <p:cNvSpPr/>
          <p:nvPr/>
        </p:nvSpPr>
        <p:spPr>
          <a:xfrm>
            <a:off x="274320" y="731519"/>
            <a:ext cx="11612880" cy="5874553"/>
          </a:xfrm>
          <a:prstGeom prst="rect">
            <a:avLst/>
          </a:prstGeom>
          <a:solidFill>
            <a:srgbClr val="F8F9FA"/>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a:p>
        </p:txBody>
      </p:sp>
      <p:sp>
        <p:nvSpPr>
          <p:cNvPr id="6" name="Shape 4"/>
          <p:cNvSpPr/>
          <p:nvPr/>
        </p:nvSpPr>
        <p:spPr>
          <a:xfrm>
            <a:off x="274320" y="731520"/>
            <a:ext cx="11612880" cy="64008"/>
          </a:xfrm>
          <a:prstGeom prst="rect">
            <a:avLst/>
          </a:prstGeom>
          <a:solidFill>
            <a:srgbClr val="10B981"/>
          </a:solidFill>
          <a:ln w="12700">
            <a:solidFill>
              <a:srgbClr val="10B981"/>
            </a:solidFill>
            <a:prstDash val="solid"/>
          </a:ln>
        </p:spPr>
        <p:txBody>
          <a:bodyPr/>
          <a:lstStyle/>
          <a:p>
            <a:endParaRPr lang="en-US"/>
          </a:p>
        </p:txBody>
      </p:sp>
      <p:sp>
        <p:nvSpPr>
          <p:cNvPr id="8" name="Text 5"/>
          <p:cNvSpPr/>
          <p:nvPr/>
        </p:nvSpPr>
        <p:spPr>
          <a:xfrm>
            <a:off x="472440" y="5760720"/>
            <a:ext cx="11247120" cy="731520"/>
          </a:xfrm>
          <a:prstGeom prst="rect">
            <a:avLst/>
          </a:prstGeom>
          <a:noFill/>
          <a:ln/>
        </p:spPr>
        <p:txBody>
          <a:bodyPr wrap="square" rtlCol="0" anchor="ctr"/>
          <a:lstStyle/>
          <a:p>
            <a:pPr marL="0" indent="0">
              <a:buNone/>
            </a:pPr>
            <a:r>
              <a:rPr lang="en-US" sz="1400" dirty="0">
                <a:solidFill>
                  <a:srgbClr val="4B5563"/>
                </a:solidFill>
                <a:latin typeface="Calibri" pitchFamily="34" charset="0"/>
                <a:ea typeface="Calibri" pitchFamily="34" charset="-122"/>
                <a:cs typeface="Calibri" pitchFamily="34" charset="-120"/>
              </a:rPr>
              <a:t>This boxplot compares how total price changes with the number of items ordered. There is a clear upward trend where total price increases as quantity increases. The median price for 1 item is 48 EGP, while for 7+ items it reaches 310 EGP. This confirms a strong and expected relationship between number of items and total cost.</a:t>
            </a:r>
            <a:endParaRPr lang="en-US" sz="1400" dirty="0"/>
          </a:p>
        </p:txBody>
      </p:sp>
      <p:pic>
        <p:nvPicPr>
          <p:cNvPr id="12" name="Picture 11">
            <a:extLst>
              <a:ext uri="{FF2B5EF4-FFF2-40B4-BE49-F238E27FC236}">
                <a16:creationId xmlns:a16="http://schemas.microsoft.com/office/drawing/2014/main" id="{FDB030D8-7050-87F2-3653-C2270DCC5128}"/>
              </a:ext>
            </a:extLst>
          </p:cNvPr>
          <p:cNvPicPr>
            <a:picLocks noChangeAspect="1"/>
          </p:cNvPicPr>
          <p:nvPr/>
        </p:nvPicPr>
        <p:blipFill>
          <a:blip r:embed="rId3"/>
          <a:stretch>
            <a:fillRect/>
          </a:stretch>
        </p:blipFill>
        <p:spPr>
          <a:xfrm>
            <a:off x="1629341" y="873957"/>
            <a:ext cx="8128591" cy="477293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F8F9FA"/>
          </a:solidFill>
          <a:ln w="12700">
            <a:solidFill>
              <a:srgbClr val="E5E7EB"/>
            </a:solidFill>
            <a:prstDash val="solid"/>
          </a:ln>
        </p:spPr>
        <p:txBody>
          <a:bodyPr/>
          <a:lstStyle/>
          <a:p>
            <a:endParaRPr lang="en-US"/>
          </a:p>
        </p:txBody>
      </p:sp>
      <p:sp>
        <p:nvSpPr>
          <p:cNvPr id="3" name="Text 1"/>
          <p:cNvSpPr/>
          <p:nvPr/>
        </p:nvSpPr>
        <p:spPr>
          <a:xfrm>
            <a:off x="365760" y="91440"/>
            <a:ext cx="8229600" cy="320040"/>
          </a:xfrm>
          <a:prstGeom prst="rect">
            <a:avLst/>
          </a:prstGeom>
          <a:noFill/>
          <a:ln/>
        </p:spPr>
        <p:txBody>
          <a:bodyPr wrap="square" lIns="0" tIns="0" rIns="0" bIns="0" rtlCol="0" anchor="ctr"/>
          <a:lstStyle/>
          <a:p>
            <a:pPr marL="0" indent="0">
              <a:buNone/>
            </a:pPr>
            <a:r>
              <a:rPr lang="en-US" sz="1400" b="1" dirty="0">
                <a:solidFill>
                  <a:srgbClr val="FF6B00"/>
                </a:solidFill>
                <a:latin typeface="Arial Black" pitchFamily="34" charset="0"/>
                <a:ea typeface="Arial Black" pitchFamily="34" charset="-122"/>
                <a:cs typeface="Arial Black" pitchFamily="34" charset="-120"/>
              </a:rPr>
              <a:t>FIGURES 8 &amp; 9: COMPARATIVE ANALYSES</a:t>
            </a:r>
            <a:endParaRPr lang="en-US" sz="1400" dirty="0"/>
          </a:p>
        </p:txBody>
      </p:sp>
      <p:sp>
        <p:nvSpPr>
          <p:cNvPr id="4" name="Text 2"/>
          <p:cNvSpPr/>
          <p:nvPr/>
        </p:nvSpPr>
        <p:spPr>
          <a:xfrm>
            <a:off x="10058400" y="91440"/>
            <a:ext cx="1828800" cy="320040"/>
          </a:xfrm>
          <a:prstGeom prst="rect">
            <a:avLst/>
          </a:prstGeom>
          <a:noFill/>
          <a:ln/>
        </p:spPr>
        <p:txBody>
          <a:bodyPr wrap="square" lIns="0" tIns="0" rIns="0" bIns="0"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Slide 8 of 11</a:t>
            </a:r>
            <a:endParaRPr lang="en-US" sz="1100" dirty="0"/>
          </a:p>
        </p:txBody>
      </p:sp>
      <p:sp>
        <p:nvSpPr>
          <p:cNvPr id="5" name="Shape 3"/>
          <p:cNvSpPr/>
          <p:nvPr/>
        </p:nvSpPr>
        <p:spPr>
          <a:xfrm>
            <a:off x="274320" y="731519"/>
            <a:ext cx="5669280" cy="5240073"/>
          </a:xfrm>
          <a:prstGeom prst="rect">
            <a:avLst/>
          </a:prstGeom>
          <a:solidFill>
            <a:srgbClr val="F8F9FA"/>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a:p>
        </p:txBody>
      </p:sp>
      <p:sp>
        <p:nvSpPr>
          <p:cNvPr id="6" name="Shape 4"/>
          <p:cNvSpPr/>
          <p:nvPr/>
        </p:nvSpPr>
        <p:spPr>
          <a:xfrm>
            <a:off x="274320" y="731520"/>
            <a:ext cx="5669280" cy="64008"/>
          </a:xfrm>
          <a:prstGeom prst="rect">
            <a:avLst/>
          </a:prstGeom>
          <a:solidFill>
            <a:srgbClr val="EF4444"/>
          </a:solidFill>
          <a:ln w="12700">
            <a:solidFill>
              <a:srgbClr val="EF4444"/>
            </a:solidFill>
            <a:prstDash val="solid"/>
          </a:ln>
        </p:spPr>
        <p:txBody>
          <a:bodyPr/>
          <a:lstStyle/>
          <a:p>
            <a:endParaRPr lang="en-US"/>
          </a:p>
        </p:txBody>
      </p:sp>
      <p:sp>
        <p:nvSpPr>
          <p:cNvPr id="7" name="Text 5"/>
          <p:cNvSpPr/>
          <p:nvPr/>
        </p:nvSpPr>
        <p:spPr>
          <a:xfrm>
            <a:off x="457200" y="795528"/>
            <a:ext cx="5303520" cy="365760"/>
          </a:xfrm>
          <a:prstGeom prst="rect">
            <a:avLst/>
          </a:prstGeom>
          <a:noFill/>
          <a:ln/>
        </p:spPr>
        <p:txBody>
          <a:bodyPr wrap="square" lIns="0" tIns="0" rIns="0" bIns="0" rtlCol="0" anchor="ctr"/>
          <a:lstStyle/>
          <a:p>
            <a:pPr marL="0" indent="0">
              <a:buNone/>
            </a:pPr>
            <a:r>
              <a:rPr lang="en-US" sz="1100" b="1" dirty="0">
                <a:solidFill>
                  <a:srgbClr val="EF4444"/>
                </a:solidFill>
                <a:latin typeface="Arial Black" pitchFamily="34" charset="0"/>
                <a:ea typeface="Arial Black" pitchFamily="34" charset="-122"/>
                <a:cs typeface="Arial Black" pitchFamily="34" charset="-120"/>
              </a:rPr>
              <a:t>Figure 8: Traffic Level vs Delivery Time</a:t>
            </a:r>
            <a:endParaRPr lang="en-US" sz="1100" dirty="0"/>
          </a:p>
        </p:txBody>
      </p:sp>
      <p:sp>
        <p:nvSpPr>
          <p:cNvPr id="9" name="Text 6"/>
          <p:cNvSpPr/>
          <p:nvPr/>
        </p:nvSpPr>
        <p:spPr>
          <a:xfrm>
            <a:off x="466826" y="5160366"/>
            <a:ext cx="5303520" cy="731520"/>
          </a:xfrm>
          <a:prstGeom prst="rect">
            <a:avLst/>
          </a:prstGeom>
          <a:noFill/>
          <a:ln/>
        </p:spPr>
        <p:txBody>
          <a:bodyPr wrap="square" rtlCol="0" anchor="ctr"/>
          <a:lstStyle/>
          <a:p>
            <a:pPr marL="0" indent="0">
              <a:buNone/>
            </a:pPr>
            <a:r>
              <a:rPr lang="en-US" sz="1400" dirty="0">
                <a:solidFill>
                  <a:srgbClr val="4B5563"/>
                </a:solidFill>
                <a:latin typeface="Calibri" pitchFamily="34" charset="0"/>
                <a:ea typeface="Calibri" pitchFamily="34" charset="-122"/>
                <a:cs typeface="Calibri" pitchFamily="34" charset="-120"/>
              </a:rPr>
              <a:t>Average delivery time is very similar across all traffic levels (≈32-33 minutes). Traffic does not significantly impact delivery time in this dataset.</a:t>
            </a:r>
            <a:endParaRPr lang="en-US" sz="1400" dirty="0"/>
          </a:p>
        </p:txBody>
      </p:sp>
      <p:sp>
        <p:nvSpPr>
          <p:cNvPr id="10" name="Shape 7"/>
          <p:cNvSpPr/>
          <p:nvPr/>
        </p:nvSpPr>
        <p:spPr>
          <a:xfrm>
            <a:off x="6217920" y="731520"/>
            <a:ext cx="5669280" cy="5240072"/>
          </a:xfrm>
          <a:prstGeom prst="rect">
            <a:avLst/>
          </a:prstGeom>
          <a:solidFill>
            <a:srgbClr val="F8F9FA"/>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a:p>
        </p:txBody>
      </p:sp>
      <p:sp>
        <p:nvSpPr>
          <p:cNvPr id="11" name="Shape 8"/>
          <p:cNvSpPr/>
          <p:nvPr/>
        </p:nvSpPr>
        <p:spPr>
          <a:xfrm>
            <a:off x="6217920" y="731520"/>
            <a:ext cx="5669280" cy="64008"/>
          </a:xfrm>
          <a:prstGeom prst="rect">
            <a:avLst/>
          </a:prstGeom>
          <a:solidFill>
            <a:srgbClr val="14B8A6"/>
          </a:solidFill>
          <a:ln w="12700">
            <a:solidFill>
              <a:srgbClr val="14B8A6"/>
            </a:solidFill>
            <a:prstDash val="solid"/>
          </a:ln>
        </p:spPr>
        <p:txBody>
          <a:bodyPr/>
          <a:lstStyle/>
          <a:p>
            <a:endParaRPr lang="en-US"/>
          </a:p>
        </p:txBody>
      </p:sp>
      <p:sp>
        <p:nvSpPr>
          <p:cNvPr id="12" name="Text 9"/>
          <p:cNvSpPr/>
          <p:nvPr/>
        </p:nvSpPr>
        <p:spPr>
          <a:xfrm>
            <a:off x="6400800" y="795528"/>
            <a:ext cx="5303520" cy="365760"/>
          </a:xfrm>
          <a:prstGeom prst="rect">
            <a:avLst/>
          </a:prstGeom>
          <a:noFill/>
          <a:ln/>
        </p:spPr>
        <p:txBody>
          <a:bodyPr wrap="square" lIns="0" tIns="0" rIns="0" bIns="0" rtlCol="0" anchor="ctr"/>
          <a:lstStyle/>
          <a:p>
            <a:pPr marL="0" indent="0">
              <a:buNone/>
            </a:pPr>
            <a:r>
              <a:rPr lang="en-US" sz="1100" b="1" dirty="0">
                <a:solidFill>
                  <a:srgbClr val="14B8A6"/>
                </a:solidFill>
                <a:latin typeface="Arial Black" pitchFamily="34" charset="0"/>
                <a:ea typeface="Arial Black" pitchFamily="34" charset="-122"/>
                <a:cs typeface="Arial Black" pitchFamily="34" charset="-120"/>
              </a:rPr>
              <a:t>Figure 9: Vehicle Type vs Delivery Time</a:t>
            </a:r>
            <a:endParaRPr lang="en-US" sz="1100" dirty="0"/>
          </a:p>
        </p:txBody>
      </p:sp>
      <p:sp>
        <p:nvSpPr>
          <p:cNvPr id="14" name="Text 10"/>
          <p:cNvSpPr/>
          <p:nvPr/>
        </p:nvSpPr>
        <p:spPr>
          <a:xfrm>
            <a:off x="6410426" y="5160366"/>
            <a:ext cx="5303520" cy="731520"/>
          </a:xfrm>
          <a:prstGeom prst="rect">
            <a:avLst/>
          </a:prstGeom>
          <a:noFill/>
          <a:ln/>
        </p:spPr>
        <p:txBody>
          <a:bodyPr wrap="square" rtlCol="0" anchor="ctr"/>
          <a:lstStyle/>
          <a:p>
            <a:pPr marL="0" indent="0">
              <a:buNone/>
            </a:pPr>
            <a:r>
              <a:rPr lang="en-US" sz="1400" dirty="0">
                <a:solidFill>
                  <a:srgbClr val="4B5563"/>
                </a:solidFill>
                <a:latin typeface="Calibri" pitchFamily="34" charset="0"/>
                <a:ea typeface="Calibri" pitchFamily="34" charset="-122"/>
                <a:cs typeface="Calibri" pitchFamily="34" charset="-120"/>
              </a:rPr>
              <a:t>Delivery durations are nearly identical across all vehicle types (≈33 minutes). Vehicle type does not play a significant role in delivery speed within this dataset.</a:t>
            </a:r>
            <a:endParaRPr lang="en-US" sz="1400" dirty="0"/>
          </a:p>
        </p:txBody>
      </p:sp>
      <p:pic>
        <p:nvPicPr>
          <p:cNvPr id="16" name="Picture 15">
            <a:extLst>
              <a:ext uri="{FF2B5EF4-FFF2-40B4-BE49-F238E27FC236}">
                <a16:creationId xmlns:a16="http://schemas.microsoft.com/office/drawing/2014/main" id="{F04BF1DF-3053-BF2F-DD65-E99F9FDA8571}"/>
              </a:ext>
            </a:extLst>
          </p:cNvPr>
          <p:cNvPicPr>
            <a:picLocks noChangeAspect="1"/>
          </p:cNvPicPr>
          <p:nvPr/>
        </p:nvPicPr>
        <p:blipFill>
          <a:blip r:embed="rId3"/>
          <a:stretch>
            <a:fillRect/>
          </a:stretch>
        </p:blipFill>
        <p:spPr>
          <a:xfrm>
            <a:off x="457200" y="1275124"/>
            <a:ext cx="5265577" cy="3706471"/>
          </a:xfrm>
          <a:prstGeom prst="rect">
            <a:avLst/>
          </a:prstGeom>
        </p:spPr>
      </p:pic>
      <p:pic>
        <p:nvPicPr>
          <p:cNvPr id="18" name="Picture 17">
            <a:extLst>
              <a:ext uri="{FF2B5EF4-FFF2-40B4-BE49-F238E27FC236}">
                <a16:creationId xmlns:a16="http://schemas.microsoft.com/office/drawing/2014/main" id="{52BB79E8-75EE-46F2-D313-43F238F06D88}"/>
              </a:ext>
            </a:extLst>
          </p:cNvPr>
          <p:cNvPicPr>
            <a:picLocks noChangeAspect="1"/>
          </p:cNvPicPr>
          <p:nvPr/>
        </p:nvPicPr>
        <p:blipFill>
          <a:blip r:embed="rId4"/>
          <a:stretch>
            <a:fillRect/>
          </a:stretch>
        </p:blipFill>
        <p:spPr>
          <a:xfrm>
            <a:off x="6331820" y="1172789"/>
            <a:ext cx="5344795" cy="384722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F8F9FA"/>
          </a:solidFill>
          <a:ln w="12700">
            <a:solidFill>
              <a:srgbClr val="E5E7EB"/>
            </a:solidFill>
            <a:prstDash val="solid"/>
          </a:ln>
        </p:spPr>
        <p:txBody>
          <a:bodyPr/>
          <a:lstStyle/>
          <a:p>
            <a:endParaRPr lang="en-US"/>
          </a:p>
        </p:txBody>
      </p:sp>
      <p:sp>
        <p:nvSpPr>
          <p:cNvPr id="3" name="Text 1"/>
          <p:cNvSpPr/>
          <p:nvPr/>
        </p:nvSpPr>
        <p:spPr>
          <a:xfrm>
            <a:off x="365760" y="91440"/>
            <a:ext cx="8229600" cy="320040"/>
          </a:xfrm>
          <a:prstGeom prst="rect">
            <a:avLst/>
          </a:prstGeom>
          <a:noFill/>
          <a:ln/>
        </p:spPr>
        <p:txBody>
          <a:bodyPr wrap="square" lIns="0" tIns="0" rIns="0" bIns="0" rtlCol="0" anchor="ctr"/>
          <a:lstStyle/>
          <a:p>
            <a:pPr marL="0" indent="0">
              <a:buNone/>
            </a:pPr>
            <a:r>
              <a:rPr lang="en-US" sz="1400" b="1" dirty="0">
                <a:solidFill>
                  <a:srgbClr val="FF6B00"/>
                </a:solidFill>
                <a:latin typeface="Arial Black" pitchFamily="34" charset="0"/>
                <a:ea typeface="Arial Black" pitchFamily="34" charset="-122"/>
                <a:cs typeface="Arial Black" pitchFamily="34" charset="-120"/>
              </a:rPr>
              <a:t>FIGURES 10 &amp; 11: TEMPORAL PATTERNS</a:t>
            </a:r>
            <a:endParaRPr lang="en-US" sz="1400" dirty="0"/>
          </a:p>
        </p:txBody>
      </p:sp>
      <p:sp>
        <p:nvSpPr>
          <p:cNvPr id="4" name="Text 2"/>
          <p:cNvSpPr/>
          <p:nvPr/>
        </p:nvSpPr>
        <p:spPr>
          <a:xfrm>
            <a:off x="10058400" y="91440"/>
            <a:ext cx="1828800" cy="320040"/>
          </a:xfrm>
          <a:prstGeom prst="rect">
            <a:avLst/>
          </a:prstGeom>
          <a:noFill/>
          <a:ln/>
        </p:spPr>
        <p:txBody>
          <a:bodyPr wrap="square" lIns="0" tIns="0" rIns="0" bIns="0"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Slide 9 of 11</a:t>
            </a:r>
            <a:endParaRPr lang="en-US" sz="1100" dirty="0"/>
          </a:p>
        </p:txBody>
      </p:sp>
      <p:sp>
        <p:nvSpPr>
          <p:cNvPr id="5" name="Shape 3"/>
          <p:cNvSpPr/>
          <p:nvPr/>
        </p:nvSpPr>
        <p:spPr>
          <a:xfrm>
            <a:off x="182880" y="731519"/>
            <a:ext cx="5760720" cy="5081451"/>
          </a:xfrm>
          <a:prstGeom prst="rect">
            <a:avLst/>
          </a:prstGeom>
          <a:solidFill>
            <a:srgbClr val="F8F9FA"/>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a:p>
        </p:txBody>
      </p:sp>
      <p:sp>
        <p:nvSpPr>
          <p:cNvPr id="6" name="Shape 4"/>
          <p:cNvSpPr/>
          <p:nvPr/>
        </p:nvSpPr>
        <p:spPr>
          <a:xfrm>
            <a:off x="274320" y="731520"/>
            <a:ext cx="5669280" cy="64008"/>
          </a:xfrm>
          <a:prstGeom prst="rect">
            <a:avLst/>
          </a:prstGeom>
          <a:solidFill>
            <a:srgbClr val="FF6B00"/>
          </a:solidFill>
          <a:ln w="12700">
            <a:solidFill>
              <a:srgbClr val="FF6B00"/>
            </a:solidFill>
            <a:prstDash val="solid"/>
          </a:ln>
        </p:spPr>
        <p:txBody>
          <a:bodyPr/>
          <a:lstStyle/>
          <a:p>
            <a:endParaRPr lang="en-US"/>
          </a:p>
        </p:txBody>
      </p:sp>
      <p:sp>
        <p:nvSpPr>
          <p:cNvPr id="7" name="Text 5"/>
          <p:cNvSpPr/>
          <p:nvPr/>
        </p:nvSpPr>
        <p:spPr>
          <a:xfrm>
            <a:off x="457200" y="795528"/>
            <a:ext cx="5303520" cy="365760"/>
          </a:xfrm>
          <a:prstGeom prst="rect">
            <a:avLst/>
          </a:prstGeom>
          <a:noFill/>
          <a:ln/>
        </p:spPr>
        <p:txBody>
          <a:bodyPr wrap="square" lIns="0" tIns="0" rIns="0" bIns="0" rtlCol="0" anchor="ctr"/>
          <a:lstStyle/>
          <a:p>
            <a:pPr marL="0" indent="0">
              <a:buNone/>
            </a:pPr>
            <a:r>
              <a:rPr lang="en-US" sz="1100" b="1" dirty="0">
                <a:solidFill>
                  <a:srgbClr val="FF6B00"/>
                </a:solidFill>
                <a:latin typeface="Arial Black" pitchFamily="34" charset="0"/>
                <a:ea typeface="Arial Black" pitchFamily="34" charset="-122"/>
                <a:cs typeface="Arial Black" pitchFamily="34" charset="-120"/>
              </a:rPr>
              <a:t>Figure 10: Orders by Hour of Day</a:t>
            </a:r>
            <a:endParaRPr lang="en-US" sz="1100" dirty="0"/>
          </a:p>
        </p:txBody>
      </p:sp>
      <p:graphicFrame>
        <p:nvGraphicFramePr>
          <p:cNvPr id="8" name="Chart 0"/>
          <p:cNvGraphicFramePr/>
          <p:nvPr>
            <p:extLst>
              <p:ext uri="{D42A27DB-BD31-4B8C-83A1-F6EECF244321}">
                <p14:modId xmlns:p14="http://schemas.microsoft.com/office/powerpoint/2010/main" val="1114691846"/>
              </p:ext>
            </p:extLst>
          </p:nvPr>
        </p:nvGraphicFramePr>
        <p:xfrm>
          <a:off x="457200" y="1280160"/>
          <a:ext cx="5303520" cy="325265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p:nvPr/>
        </p:nvSpPr>
        <p:spPr>
          <a:xfrm>
            <a:off x="533636" y="4898570"/>
            <a:ext cx="5303520" cy="731520"/>
          </a:xfrm>
          <a:prstGeom prst="rect">
            <a:avLst/>
          </a:prstGeom>
          <a:noFill/>
          <a:ln/>
        </p:spPr>
        <p:txBody>
          <a:bodyPr wrap="square" rtlCol="0" anchor="ctr"/>
          <a:lstStyle/>
          <a:p>
            <a:pPr marL="0" indent="0">
              <a:buNone/>
            </a:pPr>
            <a:r>
              <a:rPr lang="en-US" sz="1400" dirty="0">
                <a:solidFill>
                  <a:srgbClr val="4B5563"/>
                </a:solidFill>
                <a:latin typeface="Calibri" pitchFamily="34" charset="0"/>
                <a:ea typeface="Calibri" pitchFamily="34" charset="-122"/>
                <a:cs typeface="Calibri" pitchFamily="34" charset="-120"/>
              </a:rPr>
              <a:t>Orders increase during peak hours such as lunch (12-14) and dinner (18-21). This reflects typical customer behavior where food demand is higher during meal times.</a:t>
            </a:r>
            <a:endParaRPr lang="en-US" sz="1400" dirty="0"/>
          </a:p>
        </p:txBody>
      </p:sp>
      <p:sp>
        <p:nvSpPr>
          <p:cNvPr id="10" name="Shape 7"/>
          <p:cNvSpPr/>
          <p:nvPr/>
        </p:nvSpPr>
        <p:spPr>
          <a:xfrm>
            <a:off x="6126480" y="731519"/>
            <a:ext cx="5760720" cy="5081451"/>
          </a:xfrm>
          <a:prstGeom prst="rect">
            <a:avLst/>
          </a:prstGeom>
          <a:solidFill>
            <a:srgbClr val="F8F9FA"/>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a:p>
        </p:txBody>
      </p:sp>
      <p:sp>
        <p:nvSpPr>
          <p:cNvPr id="11" name="Shape 8"/>
          <p:cNvSpPr/>
          <p:nvPr/>
        </p:nvSpPr>
        <p:spPr>
          <a:xfrm>
            <a:off x="6217920" y="731520"/>
            <a:ext cx="5669280" cy="64008"/>
          </a:xfrm>
          <a:prstGeom prst="rect">
            <a:avLst/>
          </a:prstGeom>
          <a:solidFill>
            <a:srgbClr val="8B5CF6"/>
          </a:solidFill>
          <a:ln w="12700">
            <a:solidFill>
              <a:srgbClr val="8B5CF6"/>
            </a:solidFill>
            <a:prstDash val="solid"/>
          </a:ln>
        </p:spPr>
        <p:txBody>
          <a:bodyPr/>
          <a:lstStyle/>
          <a:p>
            <a:endParaRPr lang="en-US"/>
          </a:p>
        </p:txBody>
      </p:sp>
      <p:sp>
        <p:nvSpPr>
          <p:cNvPr id="12" name="Text 9"/>
          <p:cNvSpPr/>
          <p:nvPr/>
        </p:nvSpPr>
        <p:spPr>
          <a:xfrm>
            <a:off x="6400800" y="795528"/>
            <a:ext cx="5303520" cy="365760"/>
          </a:xfrm>
          <a:prstGeom prst="rect">
            <a:avLst/>
          </a:prstGeom>
          <a:noFill/>
          <a:ln/>
        </p:spPr>
        <p:txBody>
          <a:bodyPr wrap="square" lIns="0" tIns="0" rIns="0" bIns="0" rtlCol="0" anchor="ctr"/>
          <a:lstStyle/>
          <a:p>
            <a:pPr marL="0" indent="0">
              <a:buNone/>
            </a:pPr>
            <a:r>
              <a:rPr lang="en-US" sz="1100" b="1" dirty="0">
                <a:solidFill>
                  <a:srgbClr val="8B5CF6"/>
                </a:solidFill>
                <a:latin typeface="Arial Black" pitchFamily="34" charset="0"/>
                <a:ea typeface="Arial Black" pitchFamily="34" charset="-122"/>
                <a:cs typeface="Arial Black" pitchFamily="34" charset="-120"/>
              </a:rPr>
              <a:t>Figure 11: Orders by Day of Week</a:t>
            </a:r>
            <a:endParaRPr lang="en-US" sz="1100" dirty="0"/>
          </a:p>
        </p:txBody>
      </p:sp>
      <p:sp>
        <p:nvSpPr>
          <p:cNvPr id="14" name="Text 10"/>
          <p:cNvSpPr/>
          <p:nvPr/>
        </p:nvSpPr>
        <p:spPr>
          <a:xfrm>
            <a:off x="6477236" y="4898570"/>
            <a:ext cx="5303520" cy="731520"/>
          </a:xfrm>
          <a:prstGeom prst="rect">
            <a:avLst/>
          </a:prstGeom>
          <a:noFill/>
          <a:ln/>
        </p:spPr>
        <p:txBody>
          <a:bodyPr wrap="square" rtlCol="0" anchor="ctr"/>
          <a:lstStyle/>
          <a:p>
            <a:pPr marL="0" indent="0">
              <a:buNone/>
            </a:pPr>
            <a:r>
              <a:rPr lang="en-US" sz="1400" dirty="0">
                <a:solidFill>
                  <a:srgbClr val="4B5563"/>
                </a:solidFill>
                <a:latin typeface="Calibri" pitchFamily="34" charset="0"/>
                <a:ea typeface="Calibri" pitchFamily="34" charset="-122"/>
                <a:cs typeface="Calibri" pitchFamily="34" charset="-120"/>
              </a:rPr>
              <a:t>Orders are fairly evenly distributed across all days, with no strong peak on specific days. This suggests consistent demand throughout the week rather than weekend-heavy ordering behavior.</a:t>
            </a:r>
            <a:endParaRPr lang="en-US" sz="1400" dirty="0"/>
          </a:p>
        </p:txBody>
      </p:sp>
      <p:pic>
        <p:nvPicPr>
          <p:cNvPr id="16" name="Picture 15">
            <a:extLst>
              <a:ext uri="{FF2B5EF4-FFF2-40B4-BE49-F238E27FC236}">
                <a16:creationId xmlns:a16="http://schemas.microsoft.com/office/drawing/2014/main" id="{2300F1C9-039E-5AD3-44BA-5694D16D7994}"/>
              </a:ext>
            </a:extLst>
          </p:cNvPr>
          <p:cNvPicPr>
            <a:picLocks noChangeAspect="1"/>
          </p:cNvPicPr>
          <p:nvPr/>
        </p:nvPicPr>
        <p:blipFill>
          <a:blip r:embed="rId4"/>
          <a:stretch>
            <a:fillRect/>
          </a:stretch>
        </p:blipFill>
        <p:spPr>
          <a:xfrm>
            <a:off x="6324363" y="1225296"/>
            <a:ext cx="5456393" cy="335309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F8F9FA"/>
          </a:solidFill>
          <a:ln w="12700">
            <a:solidFill>
              <a:srgbClr val="E5E7EB"/>
            </a:solidFill>
            <a:prstDash val="solid"/>
          </a:ln>
        </p:spPr>
        <p:txBody>
          <a:bodyPr/>
          <a:lstStyle/>
          <a:p>
            <a:endParaRPr lang="en-US"/>
          </a:p>
        </p:txBody>
      </p:sp>
      <p:sp>
        <p:nvSpPr>
          <p:cNvPr id="3" name="Text 1"/>
          <p:cNvSpPr/>
          <p:nvPr/>
        </p:nvSpPr>
        <p:spPr>
          <a:xfrm>
            <a:off x="365760" y="91440"/>
            <a:ext cx="8229600" cy="320040"/>
          </a:xfrm>
          <a:prstGeom prst="rect">
            <a:avLst/>
          </a:prstGeom>
          <a:noFill/>
          <a:ln/>
        </p:spPr>
        <p:txBody>
          <a:bodyPr wrap="square" lIns="0" tIns="0" rIns="0" bIns="0" rtlCol="0" anchor="ctr"/>
          <a:lstStyle/>
          <a:p>
            <a:pPr marL="0" indent="0">
              <a:buNone/>
            </a:pPr>
            <a:r>
              <a:rPr lang="en-US" sz="1400" b="1" dirty="0">
                <a:solidFill>
                  <a:srgbClr val="FF6B00"/>
                </a:solidFill>
                <a:latin typeface="Arial Black" pitchFamily="34" charset="0"/>
                <a:ea typeface="Arial Black" pitchFamily="34" charset="-122"/>
                <a:cs typeface="Arial Black" pitchFamily="34" charset="-120"/>
              </a:rPr>
              <a:t>FIGURE 12: CORRELATION HEATMAP</a:t>
            </a:r>
            <a:endParaRPr lang="en-US" sz="1400" dirty="0"/>
          </a:p>
        </p:txBody>
      </p:sp>
      <p:sp>
        <p:nvSpPr>
          <p:cNvPr id="4" name="Text 2"/>
          <p:cNvSpPr/>
          <p:nvPr/>
        </p:nvSpPr>
        <p:spPr>
          <a:xfrm>
            <a:off x="10058400" y="91440"/>
            <a:ext cx="1828800" cy="320040"/>
          </a:xfrm>
          <a:prstGeom prst="rect">
            <a:avLst/>
          </a:prstGeom>
          <a:noFill/>
          <a:ln/>
        </p:spPr>
        <p:txBody>
          <a:bodyPr wrap="square" lIns="0" tIns="0" rIns="0" bIns="0"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Slide 10 of 11</a:t>
            </a:r>
            <a:endParaRPr lang="en-US" sz="1100" dirty="0"/>
          </a:p>
        </p:txBody>
      </p:sp>
      <p:sp>
        <p:nvSpPr>
          <p:cNvPr id="5" name="Shape 3"/>
          <p:cNvSpPr/>
          <p:nvPr/>
        </p:nvSpPr>
        <p:spPr>
          <a:xfrm>
            <a:off x="274320" y="731519"/>
            <a:ext cx="11612880" cy="5893215"/>
          </a:xfrm>
          <a:prstGeom prst="rect">
            <a:avLst/>
          </a:prstGeom>
          <a:solidFill>
            <a:srgbClr val="F8F9FA"/>
          </a:solidFill>
          <a:ln w="12700">
            <a:solidFill>
              <a:srgbClr val="E5E7EB"/>
            </a:solidFill>
            <a:prstDash val="solid"/>
          </a:ln>
          <a:effectLst>
            <a:outerShdw blurRad="76200" dist="25400" dir="8100000" algn="bl" rotWithShape="0">
              <a:srgbClr val="000000">
                <a:alpha val="8000"/>
              </a:srgbClr>
            </a:outerShdw>
          </a:effectLst>
        </p:spPr>
        <p:txBody>
          <a:bodyPr/>
          <a:lstStyle/>
          <a:p>
            <a:endParaRPr lang="en-US"/>
          </a:p>
        </p:txBody>
      </p:sp>
      <p:sp>
        <p:nvSpPr>
          <p:cNvPr id="6" name="Shape 4"/>
          <p:cNvSpPr/>
          <p:nvPr/>
        </p:nvSpPr>
        <p:spPr>
          <a:xfrm>
            <a:off x="274320" y="731520"/>
            <a:ext cx="11612880" cy="64008"/>
          </a:xfrm>
          <a:prstGeom prst="rect">
            <a:avLst/>
          </a:prstGeom>
          <a:solidFill>
            <a:srgbClr val="F59E0B"/>
          </a:solidFill>
          <a:ln w="12700">
            <a:solidFill>
              <a:srgbClr val="F59E0B"/>
            </a:solidFill>
            <a:prstDash val="solid"/>
          </a:ln>
        </p:spPr>
        <p:txBody>
          <a:bodyPr/>
          <a:lstStyle/>
          <a:p>
            <a:endParaRPr lang="en-US"/>
          </a:p>
        </p:txBody>
      </p:sp>
      <p:sp>
        <p:nvSpPr>
          <p:cNvPr id="9" name="Text 7"/>
          <p:cNvSpPr/>
          <p:nvPr/>
        </p:nvSpPr>
        <p:spPr>
          <a:xfrm>
            <a:off x="565746" y="5760720"/>
            <a:ext cx="11247120" cy="731520"/>
          </a:xfrm>
          <a:prstGeom prst="rect">
            <a:avLst/>
          </a:prstGeom>
          <a:noFill/>
          <a:ln/>
        </p:spPr>
        <p:txBody>
          <a:bodyPr wrap="square" rtlCol="0" anchor="ctr"/>
          <a:lstStyle/>
          <a:p>
            <a:pPr marL="0" indent="0">
              <a:buNone/>
            </a:pPr>
            <a:r>
              <a:rPr lang="en-US" sz="1600" dirty="0">
                <a:solidFill>
                  <a:srgbClr val="4B5563"/>
                </a:solidFill>
                <a:latin typeface="Calibri" pitchFamily="34" charset="0"/>
                <a:ea typeface="Calibri" pitchFamily="34" charset="-122"/>
                <a:cs typeface="Calibri" pitchFamily="34" charset="-120"/>
              </a:rPr>
              <a:t>This heatmap shows the correlation between numerical variables such as price, quantity, distance, and delivery duration. Most variables show very weak correlations, indicating that they do not strongly influence each other. The only noticeable relationship is between quantity and total price, which is expected.</a:t>
            </a:r>
            <a:endParaRPr lang="en-US" sz="1600" dirty="0"/>
          </a:p>
        </p:txBody>
      </p:sp>
      <p:pic>
        <p:nvPicPr>
          <p:cNvPr id="11" name="Picture 10">
            <a:extLst>
              <a:ext uri="{FF2B5EF4-FFF2-40B4-BE49-F238E27FC236}">
                <a16:creationId xmlns:a16="http://schemas.microsoft.com/office/drawing/2014/main" id="{AC7170A7-30B1-EE6B-6DBC-A5D92D274761}"/>
              </a:ext>
            </a:extLst>
          </p:cNvPr>
          <p:cNvPicPr>
            <a:picLocks noChangeAspect="1"/>
          </p:cNvPicPr>
          <p:nvPr/>
        </p:nvPicPr>
        <p:blipFill>
          <a:blip r:embed="rId3"/>
          <a:stretch>
            <a:fillRect/>
          </a:stretch>
        </p:blipFill>
        <p:spPr>
          <a:xfrm>
            <a:off x="1740569" y="859537"/>
            <a:ext cx="8710862" cy="473915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502920"/>
          </a:xfrm>
          <a:prstGeom prst="rect">
            <a:avLst/>
          </a:prstGeom>
          <a:solidFill>
            <a:srgbClr val="F8F9FA"/>
          </a:solidFill>
          <a:ln w="12700">
            <a:solidFill>
              <a:srgbClr val="E5E7EB"/>
            </a:solidFill>
            <a:prstDash val="solid"/>
          </a:ln>
        </p:spPr>
        <p:txBody>
          <a:bodyPr/>
          <a:lstStyle/>
          <a:p>
            <a:endParaRPr lang="en-US"/>
          </a:p>
        </p:txBody>
      </p:sp>
      <p:sp>
        <p:nvSpPr>
          <p:cNvPr id="3" name="Text 1"/>
          <p:cNvSpPr/>
          <p:nvPr/>
        </p:nvSpPr>
        <p:spPr>
          <a:xfrm>
            <a:off x="365760" y="91440"/>
            <a:ext cx="8229600" cy="320040"/>
          </a:xfrm>
          <a:prstGeom prst="rect">
            <a:avLst/>
          </a:prstGeom>
          <a:noFill/>
          <a:ln/>
        </p:spPr>
        <p:txBody>
          <a:bodyPr wrap="square" lIns="0" tIns="0" rIns="0" bIns="0" rtlCol="0" anchor="ctr"/>
          <a:lstStyle/>
          <a:p>
            <a:pPr marL="0" indent="0">
              <a:buNone/>
            </a:pPr>
            <a:r>
              <a:rPr lang="en-US" sz="1400" b="1" dirty="0">
                <a:solidFill>
                  <a:srgbClr val="FF6B00"/>
                </a:solidFill>
                <a:latin typeface="Arial Black" pitchFamily="34" charset="0"/>
                <a:ea typeface="Arial Black" pitchFamily="34" charset="-122"/>
                <a:cs typeface="Arial Black" pitchFamily="34" charset="-120"/>
              </a:rPr>
              <a:t>HYPOTHESIS TESTING RESULTS</a:t>
            </a:r>
            <a:endParaRPr lang="en-US" sz="1400" dirty="0"/>
          </a:p>
        </p:txBody>
      </p:sp>
      <p:sp>
        <p:nvSpPr>
          <p:cNvPr id="4" name="Text 2"/>
          <p:cNvSpPr/>
          <p:nvPr/>
        </p:nvSpPr>
        <p:spPr>
          <a:xfrm>
            <a:off x="10058400" y="91440"/>
            <a:ext cx="1828800" cy="320040"/>
          </a:xfrm>
          <a:prstGeom prst="rect">
            <a:avLst/>
          </a:prstGeom>
          <a:noFill/>
          <a:ln/>
        </p:spPr>
        <p:txBody>
          <a:bodyPr wrap="square" lIns="0" tIns="0" rIns="0" bIns="0"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Slide 11 of 11</a:t>
            </a:r>
            <a:endParaRPr lang="en-US" sz="1100" dirty="0"/>
          </a:p>
        </p:txBody>
      </p:sp>
      <p:sp>
        <p:nvSpPr>
          <p:cNvPr id="5" name="Shape 3"/>
          <p:cNvSpPr/>
          <p:nvPr/>
        </p:nvSpPr>
        <p:spPr>
          <a:xfrm>
            <a:off x="274320" y="685800"/>
            <a:ext cx="2240280" cy="502920"/>
          </a:xfrm>
          <a:prstGeom prst="rect">
            <a:avLst/>
          </a:prstGeom>
          <a:solidFill>
            <a:srgbClr val="F8F9FA"/>
          </a:solidFill>
          <a:ln w="12700">
            <a:solidFill>
              <a:srgbClr val="E5E7EB"/>
            </a:solidFill>
            <a:prstDash val="solid"/>
          </a:ln>
        </p:spPr>
        <p:txBody>
          <a:bodyPr/>
          <a:lstStyle/>
          <a:p>
            <a:endParaRPr lang="en-US"/>
          </a:p>
        </p:txBody>
      </p:sp>
      <p:sp>
        <p:nvSpPr>
          <p:cNvPr id="6" name="Text 4"/>
          <p:cNvSpPr/>
          <p:nvPr/>
        </p:nvSpPr>
        <p:spPr>
          <a:xfrm>
            <a:off x="274320" y="685800"/>
            <a:ext cx="2240280" cy="502920"/>
          </a:xfrm>
          <a:prstGeom prst="rect">
            <a:avLst/>
          </a:prstGeom>
          <a:noFill/>
          <a:ln/>
        </p:spPr>
        <p:txBody>
          <a:bodyPr wrap="square" rtlCol="0" anchor="ctr"/>
          <a:lstStyle/>
          <a:p>
            <a:pPr marL="0" indent="0" algn="ctr">
              <a:buNone/>
            </a:pPr>
            <a:r>
              <a:rPr lang="en-US" sz="900" dirty="0">
                <a:solidFill>
                  <a:srgbClr val="1A1A2E"/>
                </a:solidFill>
                <a:latin typeface="Calibri" pitchFamily="34" charset="0"/>
                <a:ea typeface="Calibri" pitchFamily="34" charset="-122"/>
                <a:cs typeface="Calibri" pitchFamily="34" charset="-120"/>
              </a:rPr>
              <a:t>Step 1: Define H0 &amp; H1</a:t>
            </a:r>
            <a:endParaRPr lang="en-US" sz="900" dirty="0"/>
          </a:p>
        </p:txBody>
      </p:sp>
      <p:sp>
        <p:nvSpPr>
          <p:cNvPr id="7" name="Text 5"/>
          <p:cNvSpPr/>
          <p:nvPr/>
        </p:nvSpPr>
        <p:spPr>
          <a:xfrm>
            <a:off x="2514600" y="685800"/>
            <a:ext cx="91440" cy="502920"/>
          </a:xfrm>
          <a:prstGeom prst="rect">
            <a:avLst/>
          </a:prstGeom>
          <a:noFill/>
          <a:ln/>
        </p:spPr>
        <p:txBody>
          <a:bodyPr wrap="square" rtlCol="0" anchor="ctr"/>
          <a:lstStyle/>
          <a:p>
            <a:pPr marL="0" indent="0" algn="ctr">
              <a:buNone/>
            </a:pPr>
            <a:r>
              <a:rPr lang="en-US" sz="1400" dirty="0">
                <a:solidFill>
                  <a:srgbClr val="FF6B00"/>
                </a:solidFill>
              </a:rPr>
              <a:t>→</a:t>
            </a:r>
            <a:endParaRPr lang="en-US" sz="1400" dirty="0"/>
          </a:p>
        </p:txBody>
      </p:sp>
      <p:sp>
        <p:nvSpPr>
          <p:cNvPr id="8" name="Shape 6"/>
          <p:cNvSpPr/>
          <p:nvPr/>
        </p:nvSpPr>
        <p:spPr>
          <a:xfrm>
            <a:off x="2606040" y="685800"/>
            <a:ext cx="2240280" cy="502920"/>
          </a:xfrm>
          <a:prstGeom prst="rect">
            <a:avLst/>
          </a:prstGeom>
          <a:solidFill>
            <a:srgbClr val="F8F9FA"/>
          </a:solidFill>
          <a:ln w="12700">
            <a:solidFill>
              <a:srgbClr val="E5E7EB"/>
            </a:solidFill>
            <a:prstDash val="solid"/>
          </a:ln>
        </p:spPr>
        <p:txBody>
          <a:bodyPr/>
          <a:lstStyle/>
          <a:p>
            <a:endParaRPr lang="en-US"/>
          </a:p>
        </p:txBody>
      </p:sp>
      <p:sp>
        <p:nvSpPr>
          <p:cNvPr id="9" name="Text 7"/>
          <p:cNvSpPr/>
          <p:nvPr/>
        </p:nvSpPr>
        <p:spPr>
          <a:xfrm>
            <a:off x="2606040" y="685800"/>
            <a:ext cx="2240280" cy="502920"/>
          </a:xfrm>
          <a:prstGeom prst="rect">
            <a:avLst/>
          </a:prstGeom>
          <a:noFill/>
          <a:ln/>
        </p:spPr>
        <p:txBody>
          <a:bodyPr wrap="square" rtlCol="0" anchor="ctr"/>
          <a:lstStyle/>
          <a:p>
            <a:pPr marL="0" indent="0" algn="ctr">
              <a:buNone/>
            </a:pPr>
            <a:r>
              <a:rPr lang="en-US" sz="900" dirty="0">
                <a:solidFill>
                  <a:srgbClr val="1A1A2E"/>
                </a:solidFill>
                <a:latin typeface="Calibri" pitchFamily="34" charset="0"/>
                <a:ea typeface="Calibri" pitchFamily="34" charset="-122"/>
                <a:cs typeface="Calibri" pitchFamily="34" charset="-120"/>
              </a:rPr>
              <a:t>Step 2: Set α = 0.05</a:t>
            </a:r>
            <a:endParaRPr lang="en-US" sz="900" dirty="0"/>
          </a:p>
        </p:txBody>
      </p:sp>
      <p:sp>
        <p:nvSpPr>
          <p:cNvPr id="10" name="Text 8"/>
          <p:cNvSpPr/>
          <p:nvPr/>
        </p:nvSpPr>
        <p:spPr>
          <a:xfrm>
            <a:off x="4846320" y="685800"/>
            <a:ext cx="91440" cy="502920"/>
          </a:xfrm>
          <a:prstGeom prst="rect">
            <a:avLst/>
          </a:prstGeom>
          <a:noFill/>
          <a:ln/>
        </p:spPr>
        <p:txBody>
          <a:bodyPr wrap="square" rtlCol="0" anchor="ctr"/>
          <a:lstStyle/>
          <a:p>
            <a:pPr marL="0" indent="0" algn="ctr">
              <a:buNone/>
            </a:pPr>
            <a:r>
              <a:rPr lang="en-US" sz="1400" dirty="0">
                <a:solidFill>
                  <a:srgbClr val="FF6B00"/>
                </a:solidFill>
              </a:rPr>
              <a:t>→</a:t>
            </a:r>
            <a:endParaRPr lang="en-US" sz="1400" dirty="0"/>
          </a:p>
        </p:txBody>
      </p:sp>
      <p:sp>
        <p:nvSpPr>
          <p:cNvPr id="11" name="Shape 9"/>
          <p:cNvSpPr/>
          <p:nvPr/>
        </p:nvSpPr>
        <p:spPr>
          <a:xfrm>
            <a:off x="4937760" y="685800"/>
            <a:ext cx="2240280" cy="502920"/>
          </a:xfrm>
          <a:prstGeom prst="rect">
            <a:avLst/>
          </a:prstGeom>
          <a:solidFill>
            <a:srgbClr val="F8F9FA"/>
          </a:solidFill>
          <a:ln w="12700">
            <a:solidFill>
              <a:srgbClr val="E5E7EB"/>
            </a:solidFill>
            <a:prstDash val="solid"/>
          </a:ln>
        </p:spPr>
        <p:txBody>
          <a:bodyPr/>
          <a:lstStyle/>
          <a:p>
            <a:endParaRPr lang="en-US"/>
          </a:p>
        </p:txBody>
      </p:sp>
      <p:sp>
        <p:nvSpPr>
          <p:cNvPr id="12" name="Text 10"/>
          <p:cNvSpPr/>
          <p:nvPr/>
        </p:nvSpPr>
        <p:spPr>
          <a:xfrm>
            <a:off x="4937760" y="685800"/>
            <a:ext cx="2240280" cy="502920"/>
          </a:xfrm>
          <a:prstGeom prst="rect">
            <a:avLst/>
          </a:prstGeom>
          <a:noFill/>
          <a:ln/>
        </p:spPr>
        <p:txBody>
          <a:bodyPr wrap="square" rtlCol="0" anchor="ctr"/>
          <a:lstStyle/>
          <a:p>
            <a:pPr marL="0" indent="0" algn="ctr">
              <a:buNone/>
            </a:pPr>
            <a:r>
              <a:rPr lang="en-US" sz="900" dirty="0">
                <a:solidFill>
                  <a:srgbClr val="1A1A2E"/>
                </a:solidFill>
                <a:latin typeface="Calibri" pitchFamily="34" charset="0"/>
                <a:ea typeface="Calibri" pitchFamily="34" charset="-122"/>
                <a:cs typeface="Calibri" pitchFamily="34" charset="-120"/>
              </a:rPr>
              <a:t>Step 3: Choose Test</a:t>
            </a:r>
            <a:endParaRPr lang="en-US" sz="900" dirty="0"/>
          </a:p>
        </p:txBody>
      </p:sp>
      <p:sp>
        <p:nvSpPr>
          <p:cNvPr id="13" name="Text 11"/>
          <p:cNvSpPr/>
          <p:nvPr/>
        </p:nvSpPr>
        <p:spPr>
          <a:xfrm>
            <a:off x="7178040" y="685800"/>
            <a:ext cx="91440" cy="502920"/>
          </a:xfrm>
          <a:prstGeom prst="rect">
            <a:avLst/>
          </a:prstGeom>
          <a:noFill/>
          <a:ln/>
        </p:spPr>
        <p:txBody>
          <a:bodyPr wrap="square" rtlCol="0" anchor="ctr"/>
          <a:lstStyle/>
          <a:p>
            <a:pPr marL="0" indent="0" algn="ctr">
              <a:buNone/>
            </a:pPr>
            <a:r>
              <a:rPr lang="en-US" sz="1400" dirty="0">
                <a:solidFill>
                  <a:srgbClr val="FF6B00"/>
                </a:solidFill>
              </a:rPr>
              <a:t>→</a:t>
            </a:r>
            <a:endParaRPr lang="en-US" sz="1400" dirty="0"/>
          </a:p>
        </p:txBody>
      </p:sp>
      <p:sp>
        <p:nvSpPr>
          <p:cNvPr id="14" name="Shape 12"/>
          <p:cNvSpPr/>
          <p:nvPr/>
        </p:nvSpPr>
        <p:spPr>
          <a:xfrm>
            <a:off x="7269480" y="685800"/>
            <a:ext cx="2240280" cy="502920"/>
          </a:xfrm>
          <a:prstGeom prst="rect">
            <a:avLst/>
          </a:prstGeom>
          <a:solidFill>
            <a:srgbClr val="F8F9FA"/>
          </a:solidFill>
          <a:ln w="12700">
            <a:solidFill>
              <a:srgbClr val="E5E7EB"/>
            </a:solidFill>
            <a:prstDash val="solid"/>
          </a:ln>
        </p:spPr>
        <p:txBody>
          <a:bodyPr/>
          <a:lstStyle/>
          <a:p>
            <a:endParaRPr lang="en-US"/>
          </a:p>
        </p:txBody>
      </p:sp>
      <p:sp>
        <p:nvSpPr>
          <p:cNvPr id="15" name="Text 13"/>
          <p:cNvSpPr/>
          <p:nvPr/>
        </p:nvSpPr>
        <p:spPr>
          <a:xfrm>
            <a:off x="7269480" y="685800"/>
            <a:ext cx="2240280" cy="502920"/>
          </a:xfrm>
          <a:prstGeom prst="rect">
            <a:avLst/>
          </a:prstGeom>
          <a:noFill/>
          <a:ln/>
        </p:spPr>
        <p:txBody>
          <a:bodyPr wrap="square" rtlCol="0" anchor="ctr"/>
          <a:lstStyle/>
          <a:p>
            <a:pPr marL="0" indent="0" algn="ctr">
              <a:buNone/>
            </a:pPr>
            <a:r>
              <a:rPr lang="en-US" sz="900" dirty="0">
                <a:solidFill>
                  <a:srgbClr val="1A1A2E"/>
                </a:solidFill>
                <a:latin typeface="Calibri" pitchFamily="34" charset="0"/>
                <a:ea typeface="Calibri" pitchFamily="34" charset="-122"/>
                <a:cs typeface="Calibri" pitchFamily="34" charset="-120"/>
              </a:rPr>
              <a:t>Step 4: Compute p-value</a:t>
            </a:r>
            <a:endParaRPr lang="en-US" sz="900" dirty="0"/>
          </a:p>
        </p:txBody>
      </p:sp>
      <p:sp>
        <p:nvSpPr>
          <p:cNvPr id="16" name="Text 14"/>
          <p:cNvSpPr/>
          <p:nvPr/>
        </p:nvSpPr>
        <p:spPr>
          <a:xfrm>
            <a:off x="9509760" y="685800"/>
            <a:ext cx="91440" cy="502920"/>
          </a:xfrm>
          <a:prstGeom prst="rect">
            <a:avLst/>
          </a:prstGeom>
          <a:noFill/>
          <a:ln/>
        </p:spPr>
        <p:txBody>
          <a:bodyPr wrap="square" rtlCol="0" anchor="ctr"/>
          <a:lstStyle/>
          <a:p>
            <a:pPr marL="0" indent="0" algn="ctr">
              <a:buNone/>
            </a:pPr>
            <a:r>
              <a:rPr lang="en-US" sz="1400" dirty="0">
                <a:solidFill>
                  <a:srgbClr val="FF6B00"/>
                </a:solidFill>
              </a:rPr>
              <a:t>→</a:t>
            </a:r>
            <a:endParaRPr lang="en-US" sz="1400" dirty="0"/>
          </a:p>
        </p:txBody>
      </p:sp>
      <p:sp>
        <p:nvSpPr>
          <p:cNvPr id="17" name="Shape 15"/>
          <p:cNvSpPr/>
          <p:nvPr/>
        </p:nvSpPr>
        <p:spPr>
          <a:xfrm>
            <a:off x="9601200" y="685800"/>
            <a:ext cx="2240280" cy="502920"/>
          </a:xfrm>
          <a:prstGeom prst="rect">
            <a:avLst/>
          </a:prstGeom>
          <a:solidFill>
            <a:srgbClr val="FF6B00"/>
          </a:solidFill>
          <a:ln w="12700">
            <a:solidFill>
              <a:srgbClr val="E5E7EB"/>
            </a:solidFill>
            <a:prstDash val="solid"/>
          </a:ln>
        </p:spPr>
        <p:txBody>
          <a:bodyPr/>
          <a:lstStyle/>
          <a:p>
            <a:endParaRPr lang="en-US"/>
          </a:p>
        </p:txBody>
      </p:sp>
      <p:sp>
        <p:nvSpPr>
          <p:cNvPr id="18" name="Text 16"/>
          <p:cNvSpPr/>
          <p:nvPr/>
        </p:nvSpPr>
        <p:spPr>
          <a:xfrm>
            <a:off x="9601200" y="685800"/>
            <a:ext cx="2240280" cy="5029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Step 5: Decision Rule</a:t>
            </a:r>
            <a:endParaRPr lang="en-US" sz="900" dirty="0"/>
          </a:p>
        </p:txBody>
      </p:sp>
      <p:sp>
        <p:nvSpPr>
          <p:cNvPr id="19" name="Shape 17"/>
          <p:cNvSpPr/>
          <p:nvPr/>
        </p:nvSpPr>
        <p:spPr>
          <a:xfrm>
            <a:off x="274320" y="1371600"/>
            <a:ext cx="11612880" cy="868680"/>
          </a:xfrm>
          <a:prstGeom prst="rect">
            <a:avLst/>
          </a:prstGeom>
          <a:solidFill>
            <a:srgbClr val="F8F9FA"/>
          </a:solidFill>
          <a:ln w="12700">
            <a:solidFill>
              <a:srgbClr val="E5E7EB"/>
            </a:solidFill>
            <a:prstDash val="solid"/>
          </a:ln>
        </p:spPr>
        <p:txBody>
          <a:bodyPr/>
          <a:lstStyle/>
          <a:p>
            <a:endParaRPr lang="en-US"/>
          </a:p>
        </p:txBody>
      </p:sp>
      <p:sp>
        <p:nvSpPr>
          <p:cNvPr id="20" name="Shape 18"/>
          <p:cNvSpPr/>
          <p:nvPr/>
        </p:nvSpPr>
        <p:spPr>
          <a:xfrm>
            <a:off x="274320" y="1371600"/>
            <a:ext cx="73152" cy="868680"/>
          </a:xfrm>
          <a:prstGeom prst="rect">
            <a:avLst/>
          </a:prstGeom>
          <a:solidFill>
            <a:srgbClr val="10B981"/>
          </a:solidFill>
          <a:ln w="12700">
            <a:solidFill>
              <a:srgbClr val="10B981"/>
            </a:solidFill>
            <a:prstDash val="solid"/>
          </a:ln>
        </p:spPr>
        <p:txBody>
          <a:bodyPr/>
          <a:lstStyle/>
          <a:p>
            <a:endParaRPr lang="en-US"/>
          </a:p>
        </p:txBody>
      </p:sp>
      <p:sp>
        <p:nvSpPr>
          <p:cNvPr id="21" name="Text 19"/>
          <p:cNvSpPr/>
          <p:nvPr/>
        </p:nvSpPr>
        <p:spPr>
          <a:xfrm>
            <a:off x="457200" y="1417320"/>
            <a:ext cx="548640" cy="320040"/>
          </a:xfrm>
          <a:prstGeom prst="rect">
            <a:avLst/>
          </a:prstGeom>
          <a:noFill/>
          <a:ln/>
        </p:spPr>
        <p:txBody>
          <a:bodyPr wrap="square" rtlCol="0" anchor="ctr"/>
          <a:lstStyle/>
          <a:p>
            <a:pPr marL="0" indent="0">
              <a:buNone/>
            </a:pPr>
            <a:r>
              <a:rPr lang="en-US" sz="1100" b="1" dirty="0">
                <a:solidFill>
                  <a:srgbClr val="10B981"/>
                </a:solidFill>
                <a:latin typeface="Arial Black" pitchFamily="34" charset="0"/>
                <a:ea typeface="Arial Black" pitchFamily="34" charset="-122"/>
                <a:cs typeface="Arial Black" pitchFamily="34" charset="-120"/>
              </a:rPr>
              <a:t>Test 1</a:t>
            </a:r>
            <a:endParaRPr lang="en-US" sz="1100" dirty="0"/>
          </a:p>
        </p:txBody>
      </p:sp>
      <p:sp>
        <p:nvSpPr>
          <p:cNvPr id="22" name="Text 20"/>
          <p:cNvSpPr/>
          <p:nvPr/>
        </p:nvSpPr>
        <p:spPr>
          <a:xfrm>
            <a:off x="1097280" y="1417320"/>
            <a:ext cx="2560320" cy="320040"/>
          </a:xfrm>
          <a:prstGeom prst="rect">
            <a:avLst/>
          </a:prstGeom>
          <a:noFill/>
          <a:ln/>
        </p:spPr>
        <p:txBody>
          <a:bodyPr wrap="square"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Delivery Duration vs 35 minutes</a:t>
            </a:r>
            <a:endParaRPr lang="en-US" sz="1000" dirty="0"/>
          </a:p>
        </p:txBody>
      </p:sp>
      <p:sp>
        <p:nvSpPr>
          <p:cNvPr id="23" name="Text 21"/>
          <p:cNvSpPr/>
          <p:nvPr/>
        </p:nvSpPr>
        <p:spPr>
          <a:xfrm>
            <a:off x="3840480" y="1417320"/>
            <a:ext cx="1463040" cy="32004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One-sample t-test</a:t>
            </a:r>
            <a:endParaRPr lang="en-US" sz="900" dirty="0"/>
          </a:p>
        </p:txBody>
      </p:sp>
      <p:sp>
        <p:nvSpPr>
          <p:cNvPr id="24" name="Shape 22"/>
          <p:cNvSpPr/>
          <p:nvPr/>
        </p:nvSpPr>
        <p:spPr>
          <a:xfrm>
            <a:off x="5486400" y="1463040"/>
            <a:ext cx="914400" cy="292608"/>
          </a:xfrm>
          <a:prstGeom prst="rect">
            <a:avLst/>
          </a:prstGeom>
          <a:solidFill>
            <a:srgbClr val="D1FAE5"/>
          </a:solidFill>
          <a:ln w="12700">
            <a:solidFill>
              <a:srgbClr val="10B981"/>
            </a:solidFill>
            <a:prstDash val="solid"/>
          </a:ln>
        </p:spPr>
        <p:txBody>
          <a:bodyPr/>
          <a:lstStyle/>
          <a:p>
            <a:endParaRPr lang="en-US"/>
          </a:p>
        </p:txBody>
      </p:sp>
      <p:sp>
        <p:nvSpPr>
          <p:cNvPr id="25" name="Text 23"/>
          <p:cNvSpPr/>
          <p:nvPr/>
        </p:nvSpPr>
        <p:spPr>
          <a:xfrm>
            <a:off x="5486400" y="1463040"/>
            <a:ext cx="914400" cy="292608"/>
          </a:xfrm>
          <a:prstGeom prst="rect">
            <a:avLst/>
          </a:prstGeom>
          <a:noFill/>
          <a:ln/>
        </p:spPr>
        <p:txBody>
          <a:bodyPr wrap="square" rtlCol="0" anchor="ctr"/>
          <a:lstStyle/>
          <a:p>
            <a:pPr marL="0" indent="0" algn="ctr">
              <a:buNone/>
            </a:pPr>
            <a:r>
              <a:rPr lang="en-US" sz="900" b="1" dirty="0">
                <a:solidFill>
                  <a:srgbClr val="10B981"/>
                </a:solidFill>
                <a:latin typeface="Calibri" pitchFamily="34" charset="0"/>
                <a:ea typeface="Calibri" pitchFamily="34" charset="-122"/>
                <a:cs typeface="Calibri" pitchFamily="34" charset="-120"/>
              </a:rPr>
              <a:t>p ≈ 0.000</a:t>
            </a:r>
            <a:endParaRPr lang="en-US" sz="900" dirty="0"/>
          </a:p>
        </p:txBody>
      </p:sp>
      <p:sp>
        <p:nvSpPr>
          <p:cNvPr id="26" name="Shape 24"/>
          <p:cNvSpPr/>
          <p:nvPr/>
        </p:nvSpPr>
        <p:spPr>
          <a:xfrm>
            <a:off x="6583680" y="1463040"/>
            <a:ext cx="1188720" cy="292608"/>
          </a:xfrm>
          <a:prstGeom prst="rect">
            <a:avLst/>
          </a:prstGeom>
          <a:solidFill>
            <a:srgbClr val="D1FAE5"/>
          </a:solidFill>
          <a:ln w="12700">
            <a:solidFill>
              <a:srgbClr val="10B981"/>
            </a:solidFill>
            <a:prstDash val="solid"/>
          </a:ln>
        </p:spPr>
        <p:txBody>
          <a:bodyPr/>
          <a:lstStyle/>
          <a:p>
            <a:endParaRPr lang="en-US"/>
          </a:p>
        </p:txBody>
      </p:sp>
      <p:sp>
        <p:nvSpPr>
          <p:cNvPr id="27" name="Text 25"/>
          <p:cNvSpPr/>
          <p:nvPr/>
        </p:nvSpPr>
        <p:spPr>
          <a:xfrm>
            <a:off x="6583680" y="1463040"/>
            <a:ext cx="1188720" cy="292608"/>
          </a:xfrm>
          <a:prstGeom prst="rect">
            <a:avLst/>
          </a:prstGeom>
          <a:noFill/>
          <a:ln/>
        </p:spPr>
        <p:txBody>
          <a:bodyPr wrap="square" rtlCol="0" anchor="ctr"/>
          <a:lstStyle/>
          <a:p>
            <a:pPr marL="0" indent="0" algn="ctr">
              <a:buNone/>
            </a:pPr>
            <a:r>
              <a:rPr lang="en-US" sz="800" b="1" dirty="0">
                <a:solidFill>
                  <a:srgbClr val="10B981"/>
                </a:solidFill>
                <a:latin typeface="Arial Black" pitchFamily="34" charset="0"/>
                <a:ea typeface="Arial Black" pitchFamily="34" charset="-122"/>
                <a:cs typeface="Arial Black" pitchFamily="34" charset="-120"/>
              </a:rPr>
              <a:t>REJECT H0</a:t>
            </a:r>
            <a:endParaRPr lang="en-US" sz="800" dirty="0"/>
          </a:p>
        </p:txBody>
      </p:sp>
      <p:sp>
        <p:nvSpPr>
          <p:cNvPr id="28" name="Text 26"/>
          <p:cNvSpPr/>
          <p:nvPr/>
        </p:nvSpPr>
        <p:spPr>
          <a:xfrm>
            <a:off x="7955280" y="1444752"/>
            <a:ext cx="3657600" cy="640080"/>
          </a:xfrm>
          <a:prstGeom prst="rect">
            <a:avLst/>
          </a:prstGeom>
          <a:noFill/>
          <a:ln/>
        </p:spPr>
        <p:txBody>
          <a:bodyPr wrap="square" rtlCol="0" anchor="ctr"/>
          <a:lstStyle/>
          <a:p>
            <a:pPr marL="0" indent="0">
              <a:buNone/>
            </a:pPr>
            <a:r>
              <a:rPr lang="en-US" sz="900" dirty="0">
                <a:solidFill>
                  <a:srgbClr val="4B5563"/>
                </a:solidFill>
                <a:latin typeface="Calibri" pitchFamily="34" charset="0"/>
                <a:ea typeface="Calibri" pitchFamily="34" charset="-122"/>
                <a:cs typeface="Calibri" pitchFamily="34" charset="-120"/>
              </a:rPr>
              <a:t>Delivery duration is significantly greater than 35 minutes</a:t>
            </a:r>
            <a:endParaRPr lang="en-US" sz="900" dirty="0"/>
          </a:p>
        </p:txBody>
      </p:sp>
      <p:sp>
        <p:nvSpPr>
          <p:cNvPr id="29" name="Shape 27"/>
          <p:cNvSpPr/>
          <p:nvPr/>
        </p:nvSpPr>
        <p:spPr>
          <a:xfrm>
            <a:off x="274320" y="2331720"/>
            <a:ext cx="11612880" cy="868680"/>
          </a:xfrm>
          <a:prstGeom prst="rect">
            <a:avLst/>
          </a:prstGeom>
          <a:solidFill>
            <a:srgbClr val="F8F9FA"/>
          </a:solidFill>
          <a:ln w="12700">
            <a:solidFill>
              <a:srgbClr val="E5E7EB"/>
            </a:solidFill>
            <a:prstDash val="solid"/>
          </a:ln>
        </p:spPr>
        <p:txBody>
          <a:bodyPr/>
          <a:lstStyle/>
          <a:p>
            <a:endParaRPr lang="en-US"/>
          </a:p>
        </p:txBody>
      </p:sp>
      <p:sp>
        <p:nvSpPr>
          <p:cNvPr id="30" name="Shape 28"/>
          <p:cNvSpPr/>
          <p:nvPr/>
        </p:nvSpPr>
        <p:spPr>
          <a:xfrm>
            <a:off x="274320" y="2331720"/>
            <a:ext cx="73152" cy="868680"/>
          </a:xfrm>
          <a:prstGeom prst="rect">
            <a:avLst/>
          </a:prstGeom>
          <a:solidFill>
            <a:srgbClr val="EF4444"/>
          </a:solidFill>
          <a:ln w="12700">
            <a:solidFill>
              <a:srgbClr val="EF4444"/>
            </a:solidFill>
            <a:prstDash val="solid"/>
          </a:ln>
        </p:spPr>
        <p:txBody>
          <a:bodyPr/>
          <a:lstStyle/>
          <a:p>
            <a:endParaRPr lang="en-US"/>
          </a:p>
        </p:txBody>
      </p:sp>
      <p:sp>
        <p:nvSpPr>
          <p:cNvPr id="31" name="Text 29"/>
          <p:cNvSpPr/>
          <p:nvPr/>
        </p:nvSpPr>
        <p:spPr>
          <a:xfrm>
            <a:off x="457200" y="2377440"/>
            <a:ext cx="548640" cy="320040"/>
          </a:xfrm>
          <a:prstGeom prst="rect">
            <a:avLst/>
          </a:prstGeom>
          <a:noFill/>
          <a:ln/>
        </p:spPr>
        <p:txBody>
          <a:bodyPr wrap="square" rtlCol="0" anchor="ctr"/>
          <a:lstStyle/>
          <a:p>
            <a:pPr marL="0" indent="0">
              <a:buNone/>
            </a:pPr>
            <a:r>
              <a:rPr lang="en-US" sz="1100" b="1" dirty="0">
                <a:solidFill>
                  <a:srgbClr val="EF4444"/>
                </a:solidFill>
                <a:latin typeface="Arial Black" pitchFamily="34" charset="0"/>
                <a:ea typeface="Arial Black" pitchFamily="34" charset="-122"/>
                <a:cs typeface="Arial Black" pitchFamily="34" charset="-120"/>
              </a:rPr>
              <a:t>Test 2</a:t>
            </a:r>
            <a:endParaRPr lang="en-US" sz="1100" dirty="0"/>
          </a:p>
        </p:txBody>
      </p:sp>
      <p:sp>
        <p:nvSpPr>
          <p:cNvPr id="32" name="Text 30"/>
          <p:cNvSpPr/>
          <p:nvPr/>
        </p:nvSpPr>
        <p:spPr>
          <a:xfrm>
            <a:off x="1097280" y="2377440"/>
            <a:ext cx="2560320" cy="320040"/>
          </a:xfrm>
          <a:prstGeom prst="rect">
            <a:avLst/>
          </a:prstGeom>
          <a:noFill/>
          <a:ln/>
        </p:spPr>
        <p:txBody>
          <a:bodyPr wrap="square"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Traffic Level vs Delivery Duration</a:t>
            </a:r>
            <a:endParaRPr lang="en-US" sz="1000" dirty="0"/>
          </a:p>
        </p:txBody>
      </p:sp>
      <p:sp>
        <p:nvSpPr>
          <p:cNvPr id="33" name="Text 31"/>
          <p:cNvSpPr/>
          <p:nvPr/>
        </p:nvSpPr>
        <p:spPr>
          <a:xfrm>
            <a:off x="3840480" y="2377440"/>
            <a:ext cx="1463040" cy="32004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One-way ANOVA</a:t>
            </a:r>
            <a:endParaRPr lang="en-US" sz="900" dirty="0"/>
          </a:p>
        </p:txBody>
      </p:sp>
      <p:sp>
        <p:nvSpPr>
          <p:cNvPr id="34" name="Shape 32"/>
          <p:cNvSpPr/>
          <p:nvPr/>
        </p:nvSpPr>
        <p:spPr>
          <a:xfrm>
            <a:off x="5486400" y="2423160"/>
            <a:ext cx="914400" cy="292608"/>
          </a:xfrm>
          <a:prstGeom prst="rect">
            <a:avLst/>
          </a:prstGeom>
          <a:solidFill>
            <a:srgbClr val="FEE2E2"/>
          </a:solidFill>
          <a:ln w="12700">
            <a:solidFill>
              <a:srgbClr val="EF4444"/>
            </a:solidFill>
            <a:prstDash val="solid"/>
          </a:ln>
        </p:spPr>
        <p:txBody>
          <a:bodyPr/>
          <a:lstStyle/>
          <a:p>
            <a:endParaRPr lang="en-US"/>
          </a:p>
        </p:txBody>
      </p:sp>
      <p:sp>
        <p:nvSpPr>
          <p:cNvPr id="35" name="Text 33"/>
          <p:cNvSpPr/>
          <p:nvPr/>
        </p:nvSpPr>
        <p:spPr>
          <a:xfrm>
            <a:off x="5486400" y="2423160"/>
            <a:ext cx="914400" cy="292608"/>
          </a:xfrm>
          <a:prstGeom prst="rect">
            <a:avLst/>
          </a:prstGeom>
          <a:noFill/>
          <a:ln/>
        </p:spPr>
        <p:txBody>
          <a:bodyPr wrap="square" rtlCol="0" anchor="ctr"/>
          <a:lstStyle/>
          <a:p>
            <a:pPr marL="0" indent="0" algn="ctr">
              <a:buNone/>
            </a:pPr>
            <a:r>
              <a:rPr lang="en-US" sz="900" b="1" dirty="0">
                <a:solidFill>
                  <a:srgbClr val="EF4444"/>
                </a:solidFill>
                <a:latin typeface="Calibri" pitchFamily="34" charset="0"/>
                <a:ea typeface="Calibri" pitchFamily="34" charset="-122"/>
                <a:cs typeface="Calibri" pitchFamily="34" charset="-120"/>
              </a:rPr>
              <a:t>p = 0.178</a:t>
            </a:r>
            <a:endParaRPr lang="en-US" sz="900" dirty="0"/>
          </a:p>
        </p:txBody>
      </p:sp>
      <p:sp>
        <p:nvSpPr>
          <p:cNvPr id="36" name="Shape 34"/>
          <p:cNvSpPr/>
          <p:nvPr/>
        </p:nvSpPr>
        <p:spPr>
          <a:xfrm>
            <a:off x="6583680" y="2423160"/>
            <a:ext cx="1188720" cy="292608"/>
          </a:xfrm>
          <a:prstGeom prst="rect">
            <a:avLst/>
          </a:prstGeom>
          <a:solidFill>
            <a:srgbClr val="FEE2E2"/>
          </a:solidFill>
          <a:ln w="12700">
            <a:solidFill>
              <a:srgbClr val="EF4444"/>
            </a:solidFill>
            <a:prstDash val="solid"/>
          </a:ln>
        </p:spPr>
        <p:txBody>
          <a:bodyPr/>
          <a:lstStyle/>
          <a:p>
            <a:endParaRPr lang="en-US"/>
          </a:p>
        </p:txBody>
      </p:sp>
      <p:sp>
        <p:nvSpPr>
          <p:cNvPr id="37" name="Text 35"/>
          <p:cNvSpPr/>
          <p:nvPr/>
        </p:nvSpPr>
        <p:spPr>
          <a:xfrm>
            <a:off x="6583680" y="2423160"/>
            <a:ext cx="1188720" cy="292608"/>
          </a:xfrm>
          <a:prstGeom prst="rect">
            <a:avLst/>
          </a:prstGeom>
          <a:noFill/>
          <a:ln/>
        </p:spPr>
        <p:txBody>
          <a:bodyPr wrap="square" rtlCol="0" anchor="ctr"/>
          <a:lstStyle/>
          <a:p>
            <a:pPr marL="0" indent="0" algn="ctr">
              <a:buNone/>
            </a:pPr>
            <a:r>
              <a:rPr lang="en-US" sz="800" b="1" dirty="0">
                <a:solidFill>
                  <a:srgbClr val="EF4444"/>
                </a:solidFill>
                <a:latin typeface="Arial Black" pitchFamily="34" charset="0"/>
                <a:ea typeface="Arial Black" pitchFamily="34" charset="-122"/>
                <a:cs typeface="Arial Black" pitchFamily="34" charset="-120"/>
              </a:rPr>
              <a:t>FAIL TO REJECT</a:t>
            </a:r>
            <a:endParaRPr lang="en-US" sz="800" dirty="0"/>
          </a:p>
        </p:txBody>
      </p:sp>
      <p:sp>
        <p:nvSpPr>
          <p:cNvPr id="38" name="Text 36"/>
          <p:cNvSpPr/>
          <p:nvPr/>
        </p:nvSpPr>
        <p:spPr>
          <a:xfrm>
            <a:off x="7955280" y="2404872"/>
            <a:ext cx="3657600" cy="640080"/>
          </a:xfrm>
          <a:prstGeom prst="rect">
            <a:avLst/>
          </a:prstGeom>
          <a:noFill/>
          <a:ln/>
        </p:spPr>
        <p:txBody>
          <a:bodyPr wrap="square" rtlCol="0" anchor="ctr"/>
          <a:lstStyle/>
          <a:p>
            <a:pPr marL="0" indent="0">
              <a:buNone/>
            </a:pPr>
            <a:r>
              <a:rPr lang="en-US" sz="900" dirty="0">
                <a:solidFill>
                  <a:srgbClr val="4B5563"/>
                </a:solidFill>
                <a:latin typeface="Calibri" pitchFamily="34" charset="0"/>
                <a:ea typeface="Calibri" pitchFamily="34" charset="-122"/>
                <a:cs typeface="Calibri" pitchFamily="34" charset="-120"/>
              </a:rPr>
              <a:t>Traffic level does not significantly affect delivery duration</a:t>
            </a:r>
            <a:endParaRPr lang="en-US" sz="900" dirty="0"/>
          </a:p>
        </p:txBody>
      </p:sp>
      <p:sp>
        <p:nvSpPr>
          <p:cNvPr id="39" name="Shape 37"/>
          <p:cNvSpPr/>
          <p:nvPr/>
        </p:nvSpPr>
        <p:spPr>
          <a:xfrm>
            <a:off x="274320" y="3291840"/>
            <a:ext cx="11612880" cy="868680"/>
          </a:xfrm>
          <a:prstGeom prst="rect">
            <a:avLst/>
          </a:prstGeom>
          <a:solidFill>
            <a:srgbClr val="F8F9FA"/>
          </a:solidFill>
          <a:ln w="12700">
            <a:solidFill>
              <a:srgbClr val="E5E7EB"/>
            </a:solidFill>
            <a:prstDash val="solid"/>
          </a:ln>
        </p:spPr>
        <p:txBody>
          <a:bodyPr/>
          <a:lstStyle/>
          <a:p>
            <a:endParaRPr lang="en-US"/>
          </a:p>
        </p:txBody>
      </p:sp>
      <p:sp>
        <p:nvSpPr>
          <p:cNvPr id="40" name="Shape 38"/>
          <p:cNvSpPr/>
          <p:nvPr/>
        </p:nvSpPr>
        <p:spPr>
          <a:xfrm>
            <a:off x="274320" y="3291840"/>
            <a:ext cx="73152" cy="868680"/>
          </a:xfrm>
          <a:prstGeom prst="rect">
            <a:avLst/>
          </a:prstGeom>
          <a:solidFill>
            <a:srgbClr val="EF4444"/>
          </a:solidFill>
          <a:ln w="12700">
            <a:solidFill>
              <a:srgbClr val="EF4444"/>
            </a:solidFill>
            <a:prstDash val="solid"/>
          </a:ln>
        </p:spPr>
        <p:txBody>
          <a:bodyPr/>
          <a:lstStyle/>
          <a:p>
            <a:endParaRPr lang="en-US"/>
          </a:p>
        </p:txBody>
      </p:sp>
      <p:sp>
        <p:nvSpPr>
          <p:cNvPr id="41" name="Text 39"/>
          <p:cNvSpPr/>
          <p:nvPr/>
        </p:nvSpPr>
        <p:spPr>
          <a:xfrm>
            <a:off x="457200" y="3337560"/>
            <a:ext cx="548640" cy="320040"/>
          </a:xfrm>
          <a:prstGeom prst="rect">
            <a:avLst/>
          </a:prstGeom>
          <a:noFill/>
          <a:ln/>
        </p:spPr>
        <p:txBody>
          <a:bodyPr wrap="square" rtlCol="0" anchor="ctr"/>
          <a:lstStyle/>
          <a:p>
            <a:pPr marL="0" indent="0">
              <a:buNone/>
            </a:pPr>
            <a:r>
              <a:rPr lang="en-US" sz="1100" b="1" dirty="0">
                <a:solidFill>
                  <a:srgbClr val="EF4444"/>
                </a:solidFill>
                <a:latin typeface="Arial Black" pitchFamily="34" charset="0"/>
                <a:ea typeface="Arial Black" pitchFamily="34" charset="-122"/>
                <a:cs typeface="Arial Black" pitchFamily="34" charset="-120"/>
              </a:rPr>
              <a:t>Test 3</a:t>
            </a:r>
            <a:endParaRPr lang="en-US" sz="1100" dirty="0"/>
          </a:p>
        </p:txBody>
      </p:sp>
      <p:sp>
        <p:nvSpPr>
          <p:cNvPr id="42" name="Text 40"/>
          <p:cNvSpPr/>
          <p:nvPr/>
        </p:nvSpPr>
        <p:spPr>
          <a:xfrm>
            <a:off x="1097280" y="3337560"/>
            <a:ext cx="2560320" cy="320040"/>
          </a:xfrm>
          <a:prstGeom prst="rect">
            <a:avLst/>
          </a:prstGeom>
          <a:noFill/>
          <a:ln/>
        </p:spPr>
        <p:txBody>
          <a:bodyPr wrap="square"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Payment Method vs Order Status</a:t>
            </a:r>
            <a:endParaRPr lang="en-US" sz="1000" dirty="0"/>
          </a:p>
        </p:txBody>
      </p:sp>
      <p:sp>
        <p:nvSpPr>
          <p:cNvPr id="43" name="Text 41"/>
          <p:cNvSpPr/>
          <p:nvPr/>
        </p:nvSpPr>
        <p:spPr>
          <a:xfrm>
            <a:off x="3840480" y="3337560"/>
            <a:ext cx="1463040" cy="32004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Chi-square test</a:t>
            </a:r>
            <a:endParaRPr lang="en-US" sz="900" dirty="0"/>
          </a:p>
        </p:txBody>
      </p:sp>
      <p:sp>
        <p:nvSpPr>
          <p:cNvPr id="44" name="Shape 42"/>
          <p:cNvSpPr/>
          <p:nvPr/>
        </p:nvSpPr>
        <p:spPr>
          <a:xfrm>
            <a:off x="5486400" y="3383280"/>
            <a:ext cx="914400" cy="292608"/>
          </a:xfrm>
          <a:prstGeom prst="rect">
            <a:avLst/>
          </a:prstGeom>
          <a:solidFill>
            <a:srgbClr val="FEE2E2"/>
          </a:solidFill>
          <a:ln w="12700">
            <a:solidFill>
              <a:srgbClr val="EF4444"/>
            </a:solidFill>
            <a:prstDash val="solid"/>
          </a:ln>
        </p:spPr>
        <p:txBody>
          <a:bodyPr/>
          <a:lstStyle/>
          <a:p>
            <a:endParaRPr lang="en-US"/>
          </a:p>
        </p:txBody>
      </p:sp>
      <p:sp>
        <p:nvSpPr>
          <p:cNvPr id="45" name="Text 43"/>
          <p:cNvSpPr/>
          <p:nvPr/>
        </p:nvSpPr>
        <p:spPr>
          <a:xfrm>
            <a:off x="5486400" y="3383280"/>
            <a:ext cx="914400" cy="292608"/>
          </a:xfrm>
          <a:prstGeom prst="rect">
            <a:avLst/>
          </a:prstGeom>
          <a:noFill/>
          <a:ln/>
        </p:spPr>
        <p:txBody>
          <a:bodyPr wrap="square" rtlCol="0" anchor="ctr"/>
          <a:lstStyle/>
          <a:p>
            <a:pPr marL="0" indent="0" algn="ctr">
              <a:buNone/>
            </a:pPr>
            <a:r>
              <a:rPr lang="en-US" sz="900" b="1" dirty="0">
                <a:solidFill>
                  <a:srgbClr val="EF4444"/>
                </a:solidFill>
                <a:latin typeface="Calibri" pitchFamily="34" charset="0"/>
                <a:ea typeface="Calibri" pitchFamily="34" charset="-122"/>
                <a:cs typeface="Calibri" pitchFamily="34" charset="-120"/>
              </a:rPr>
              <a:t>p = 0.167</a:t>
            </a:r>
            <a:endParaRPr lang="en-US" sz="900" dirty="0"/>
          </a:p>
        </p:txBody>
      </p:sp>
      <p:sp>
        <p:nvSpPr>
          <p:cNvPr id="46" name="Shape 44"/>
          <p:cNvSpPr/>
          <p:nvPr/>
        </p:nvSpPr>
        <p:spPr>
          <a:xfrm>
            <a:off x="6583680" y="3383280"/>
            <a:ext cx="1188720" cy="292608"/>
          </a:xfrm>
          <a:prstGeom prst="rect">
            <a:avLst/>
          </a:prstGeom>
          <a:solidFill>
            <a:srgbClr val="FEE2E2"/>
          </a:solidFill>
          <a:ln w="12700">
            <a:solidFill>
              <a:srgbClr val="EF4444"/>
            </a:solidFill>
            <a:prstDash val="solid"/>
          </a:ln>
        </p:spPr>
        <p:txBody>
          <a:bodyPr/>
          <a:lstStyle/>
          <a:p>
            <a:endParaRPr lang="en-US"/>
          </a:p>
        </p:txBody>
      </p:sp>
      <p:sp>
        <p:nvSpPr>
          <p:cNvPr id="47" name="Text 45"/>
          <p:cNvSpPr/>
          <p:nvPr/>
        </p:nvSpPr>
        <p:spPr>
          <a:xfrm>
            <a:off x="6583680" y="3383280"/>
            <a:ext cx="1188720" cy="292608"/>
          </a:xfrm>
          <a:prstGeom prst="rect">
            <a:avLst/>
          </a:prstGeom>
          <a:noFill/>
          <a:ln/>
        </p:spPr>
        <p:txBody>
          <a:bodyPr wrap="square" rtlCol="0" anchor="ctr"/>
          <a:lstStyle/>
          <a:p>
            <a:pPr marL="0" indent="0" algn="ctr">
              <a:buNone/>
            </a:pPr>
            <a:r>
              <a:rPr lang="en-US" sz="800" b="1" dirty="0">
                <a:solidFill>
                  <a:srgbClr val="EF4444"/>
                </a:solidFill>
                <a:latin typeface="Arial Black" pitchFamily="34" charset="0"/>
                <a:ea typeface="Arial Black" pitchFamily="34" charset="-122"/>
                <a:cs typeface="Arial Black" pitchFamily="34" charset="-120"/>
              </a:rPr>
              <a:t>FAIL TO REJECT</a:t>
            </a:r>
            <a:endParaRPr lang="en-US" sz="800" dirty="0"/>
          </a:p>
        </p:txBody>
      </p:sp>
      <p:sp>
        <p:nvSpPr>
          <p:cNvPr id="48" name="Text 46"/>
          <p:cNvSpPr/>
          <p:nvPr/>
        </p:nvSpPr>
        <p:spPr>
          <a:xfrm>
            <a:off x="7955280" y="3364992"/>
            <a:ext cx="3657600" cy="640080"/>
          </a:xfrm>
          <a:prstGeom prst="rect">
            <a:avLst/>
          </a:prstGeom>
          <a:noFill/>
          <a:ln/>
        </p:spPr>
        <p:txBody>
          <a:bodyPr wrap="square" rtlCol="0" anchor="ctr"/>
          <a:lstStyle/>
          <a:p>
            <a:pPr marL="0" indent="0">
              <a:buNone/>
            </a:pPr>
            <a:r>
              <a:rPr lang="en-US" sz="900" dirty="0">
                <a:solidFill>
                  <a:srgbClr val="4B5563"/>
                </a:solidFill>
                <a:latin typeface="Calibri" pitchFamily="34" charset="0"/>
                <a:ea typeface="Calibri" pitchFamily="34" charset="-122"/>
                <a:cs typeface="Calibri" pitchFamily="34" charset="-120"/>
              </a:rPr>
              <a:t>No relationship between payment method and order status</a:t>
            </a:r>
            <a:endParaRPr lang="en-US" sz="900" dirty="0"/>
          </a:p>
        </p:txBody>
      </p:sp>
      <p:sp>
        <p:nvSpPr>
          <p:cNvPr id="49" name="Shape 47"/>
          <p:cNvSpPr/>
          <p:nvPr/>
        </p:nvSpPr>
        <p:spPr>
          <a:xfrm>
            <a:off x="274320" y="4251960"/>
            <a:ext cx="11612880" cy="868680"/>
          </a:xfrm>
          <a:prstGeom prst="rect">
            <a:avLst/>
          </a:prstGeom>
          <a:solidFill>
            <a:srgbClr val="F8F9FA"/>
          </a:solidFill>
          <a:ln w="12700">
            <a:solidFill>
              <a:srgbClr val="E5E7EB"/>
            </a:solidFill>
            <a:prstDash val="solid"/>
          </a:ln>
        </p:spPr>
        <p:txBody>
          <a:bodyPr/>
          <a:lstStyle/>
          <a:p>
            <a:endParaRPr lang="en-US"/>
          </a:p>
        </p:txBody>
      </p:sp>
      <p:sp>
        <p:nvSpPr>
          <p:cNvPr id="50" name="Shape 48"/>
          <p:cNvSpPr/>
          <p:nvPr/>
        </p:nvSpPr>
        <p:spPr>
          <a:xfrm>
            <a:off x="274320" y="4251960"/>
            <a:ext cx="73152" cy="868680"/>
          </a:xfrm>
          <a:prstGeom prst="rect">
            <a:avLst/>
          </a:prstGeom>
          <a:solidFill>
            <a:srgbClr val="EF4444"/>
          </a:solidFill>
          <a:ln w="12700">
            <a:solidFill>
              <a:srgbClr val="EF4444"/>
            </a:solidFill>
            <a:prstDash val="solid"/>
          </a:ln>
        </p:spPr>
        <p:txBody>
          <a:bodyPr/>
          <a:lstStyle/>
          <a:p>
            <a:endParaRPr lang="en-US"/>
          </a:p>
        </p:txBody>
      </p:sp>
      <p:sp>
        <p:nvSpPr>
          <p:cNvPr id="51" name="Text 49"/>
          <p:cNvSpPr/>
          <p:nvPr/>
        </p:nvSpPr>
        <p:spPr>
          <a:xfrm>
            <a:off x="457200" y="4297680"/>
            <a:ext cx="548640" cy="320040"/>
          </a:xfrm>
          <a:prstGeom prst="rect">
            <a:avLst/>
          </a:prstGeom>
          <a:noFill/>
          <a:ln/>
        </p:spPr>
        <p:txBody>
          <a:bodyPr wrap="square" rtlCol="0" anchor="ctr"/>
          <a:lstStyle/>
          <a:p>
            <a:pPr marL="0" indent="0">
              <a:buNone/>
            </a:pPr>
            <a:r>
              <a:rPr lang="en-US" sz="1100" b="1" dirty="0">
                <a:solidFill>
                  <a:srgbClr val="EF4444"/>
                </a:solidFill>
                <a:latin typeface="Arial Black" pitchFamily="34" charset="0"/>
                <a:ea typeface="Arial Black" pitchFamily="34" charset="-122"/>
                <a:cs typeface="Arial Black" pitchFamily="34" charset="-120"/>
              </a:rPr>
              <a:t>Test 4</a:t>
            </a:r>
            <a:endParaRPr lang="en-US" sz="1100" dirty="0"/>
          </a:p>
        </p:txBody>
      </p:sp>
      <p:sp>
        <p:nvSpPr>
          <p:cNvPr id="52" name="Text 50"/>
          <p:cNvSpPr/>
          <p:nvPr/>
        </p:nvSpPr>
        <p:spPr>
          <a:xfrm>
            <a:off x="1097280" y="4297680"/>
            <a:ext cx="2560320" cy="320040"/>
          </a:xfrm>
          <a:prstGeom prst="rect">
            <a:avLst/>
          </a:prstGeom>
          <a:noFill/>
          <a:ln/>
        </p:spPr>
        <p:txBody>
          <a:bodyPr wrap="square"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Delivery Distance vs Duration</a:t>
            </a:r>
            <a:endParaRPr lang="en-US" sz="1000" dirty="0"/>
          </a:p>
        </p:txBody>
      </p:sp>
      <p:sp>
        <p:nvSpPr>
          <p:cNvPr id="53" name="Text 51"/>
          <p:cNvSpPr/>
          <p:nvPr/>
        </p:nvSpPr>
        <p:spPr>
          <a:xfrm>
            <a:off x="3840480" y="4297680"/>
            <a:ext cx="1463040" cy="32004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Pearson correlation</a:t>
            </a:r>
            <a:endParaRPr lang="en-US" sz="900" dirty="0"/>
          </a:p>
        </p:txBody>
      </p:sp>
      <p:sp>
        <p:nvSpPr>
          <p:cNvPr id="54" name="Shape 52"/>
          <p:cNvSpPr/>
          <p:nvPr/>
        </p:nvSpPr>
        <p:spPr>
          <a:xfrm>
            <a:off x="5486400" y="4343400"/>
            <a:ext cx="914400" cy="292608"/>
          </a:xfrm>
          <a:prstGeom prst="rect">
            <a:avLst/>
          </a:prstGeom>
          <a:solidFill>
            <a:srgbClr val="FEE2E2"/>
          </a:solidFill>
          <a:ln w="12700">
            <a:solidFill>
              <a:srgbClr val="EF4444"/>
            </a:solidFill>
            <a:prstDash val="solid"/>
          </a:ln>
        </p:spPr>
        <p:txBody>
          <a:bodyPr/>
          <a:lstStyle/>
          <a:p>
            <a:endParaRPr lang="en-US"/>
          </a:p>
        </p:txBody>
      </p:sp>
      <p:sp>
        <p:nvSpPr>
          <p:cNvPr id="55" name="Text 53"/>
          <p:cNvSpPr/>
          <p:nvPr/>
        </p:nvSpPr>
        <p:spPr>
          <a:xfrm>
            <a:off x="5486400" y="4343400"/>
            <a:ext cx="914400" cy="292608"/>
          </a:xfrm>
          <a:prstGeom prst="rect">
            <a:avLst/>
          </a:prstGeom>
          <a:noFill/>
          <a:ln/>
        </p:spPr>
        <p:txBody>
          <a:bodyPr wrap="square" rtlCol="0" anchor="ctr"/>
          <a:lstStyle/>
          <a:p>
            <a:pPr marL="0" indent="0" algn="ctr">
              <a:buNone/>
            </a:pPr>
            <a:r>
              <a:rPr lang="en-US" sz="900" b="1" dirty="0">
                <a:solidFill>
                  <a:srgbClr val="EF4444"/>
                </a:solidFill>
                <a:latin typeface="Calibri" pitchFamily="34" charset="0"/>
                <a:ea typeface="Calibri" pitchFamily="34" charset="-122"/>
                <a:cs typeface="Calibri" pitchFamily="34" charset="-120"/>
              </a:rPr>
              <a:t>p = 0.596</a:t>
            </a:r>
            <a:endParaRPr lang="en-US" sz="900" dirty="0"/>
          </a:p>
        </p:txBody>
      </p:sp>
      <p:sp>
        <p:nvSpPr>
          <p:cNvPr id="56" name="Shape 54"/>
          <p:cNvSpPr/>
          <p:nvPr/>
        </p:nvSpPr>
        <p:spPr>
          <a:xfrm>
            <a:off x="6583680" y="4343400"/>
            <a:ext cx="1188720" cy="292608"/>
          </a:xfrm>
          <a:prstGeom prst="rect">
            <a:avLst/>
          </a:prstGeom>
          <a:solidFill>
            <a:srgbClr val="FEE2E2"/>
          </a:solidFill>
          <a:ln w="12700">
            <a:solidFill>
              <a:srgbClr val="EF4444"/>
            </a:solidFill>
            <a:prstDash val="solid"/>
          </a:ln>
        </p:spPr>
        <p:txBody>
          <a:bodyPr/>
          <a:lstStyle/>
          <a:p>
            <a:endParaRPr lang="en-US"/>
          </a:p>
        </p:txBody>
      </p:sp>
      <p:sp>
        <p:nvSpPr>
          <p:cNvPr id="57" name="Text 55"/>
          <p:cNvSpPr/>
          <p:nvPr/>
        </p:nvSpPr>
        <p:spPr>
          <a:xfrm>
            <a:off x="6583680" y="4343400"/>
            <a:ext cx="1188720" cy="292608"/>
          </a:xfrm>
          <a:prstGeom prst="rect">
            <a:avLst/>
          </a:prstGeom>
          <a:noFill/>
          <a:ln/>
        </p:spPr>
        <p:txBody>
          <a:bodyPr wrap="square" rtlCol="0" anchor="ctr"/>
          <a:lstStyle/>
          <a:p>
            <a:pPr marL="0" indent="0" algn="ctr">
              <a:buNone/>
            </a:pPr>
            <a:r>
              <a:rPr lang="en-US" sz="800" b="1" dirty="0">
                <a:solidFill>
                  <a:srgbClr val="EF4444"/>
                </a:solidFill>
                <a:latin typeface="Arial Black" pitchFamily="34" charset="0"/>
                <a:ea typeface="Arial Black" pitchFamily="34" charset="-122"/>
                <a:cs typeface="Arial Black" pitchFamily="34" charset="-120"/>
              </a:rPr>
              <a:t>FAIL TO REJECT</a:t>
            </a:r>
            <a:endParaRPr lang="en-US" sz="800" dirty="0"/>
          </a:p>
        </p:txBody>
      </p:sp>
      <p:sp>
        <p:nvSpPr>
          <p:cNvPr id="58" name="Text 56"/>
          <p:cNvSpPr/>
          <p:nvPr/>
        </p:nvSpPr>
        <p:spPr>
          <a:xfrm>
            <a:off x="7955280" y="4325112"/>
            <a:ext cx="3657600" cy="640080"/>
          </a:xfrm>
          <a:prstGeom prst="rect">
            <a:avLst/>
          </a:prstGeom>
          <a:noFill/>
          <a:ln/>
        </p:spPr>
        <p:txBody>
          <a:bodyPr wrap="square" rtlCol="0" anchor="ctr"/>
          <a:lstStyle/>
          <a:p>
            <a:pPr marL="0" indent="0">
              <a:buNone/>
            </a:pPr>
            <a:r>
              <a:rPr lang="en-US" sz="900" dirty="0">
                <a:solidFill>
                  <a:srgbClr val="4B5563"/>
                </a:solidFill>
                <a:latin typeface="Calibri" pitchFamily="34" charset="0"/>
                <a:ea typeface="Calibri" pitchFamily="34" charset="-122"/>
                <a:cs typeface="Calibri" pitchFamily="34" charset="-120"/>
              </a:rPr>
              <a:t>No correlation between distance and delivery time</a:t>
            </a:r>
            <a:endParaRPr lang="en-US" sz="900" dirty="0"/>
          </a:p>
        </p:txBody>
      </p:sp>
      <p:sp>
        <p:nvSpPr>
          <p:cNvPr id="59" name="Shape 57"/>
          <p:cNvSpPr/>
          <p:nvPr/>
        </p:nvSpPr>
        <p:spPr>
          <a:xfrm>
            <a:off x="274320" y="5212080"/>
            <a:ext cx="11612880" cy="868680"/>
          </a:xfrm>
          <a:prstGeom prst="rect">
            <a:avLst/>
          </a:prstGeom>
          <a:solidFill>
            <a:srgbClr val="F8F9FA"/>
          </a:solidFill>
          <a:ln w="12700">
            <a:solidFill>
              <a:srgbClr val="E5E7EB"/>
            </a:solidFill>
            <a:prstDash val="solid"/>
          </a:ln>
        </p:spPr>
        <p:txBody>
          <a:bodyPr/>
          <a:lstStyle/>
          <a:p>
            <a:endParaRPr lang="en-US"/>
          </a:p>
        </p:txBody>
      </p:sp>
      <p:sp>
        <p:nvSpPr>
          <p:cNvPr id="60" name="Shape 58"/>
          <p:cNvSpPr/>
          <p:nvPr/>
        </p:nvSpPr>
        <p:spPr>
          <a:xfrm>
            <a:off x="274320" y="5212080"/>
            <a:ext cx="73152" cy="868680"/>
          </a:xfrm>
          <a:prstGeom prst="rect">
            <a:avLst/>
          </a:prstGeom>
          <a:solidFill>
            <a:srgbClr val="10B981"/>
          </a:solidFill>
          <a:ln w="12700">
            <a:solidFill>
              <a:srgbClr val="10B981"/>
            </a:solidFill>
            <a:prstDash val="solid"/>
          </a:ln>
        </p:spPr>
        <p:txBody>
          <a:bodyPr/>
          <a:lstStyle/>
          <a:p>
            <a:endParaRPr lang="en-US"/>
          </a:p>
        </p:txBody>
      </p:sp>
      <p:sp>
        <p:nvSpPr>
          <p:cNvPr id="61" name="Text 59"/>
          <p:cNvSpPr/>
          <p:nvPr/>
        </p:nvSpPr>
        <p:spPr>
          <a:xfrm>
            <a:off x="457200" y="5257800"/>
            <a:ext cx="548640" cy="320040"/>
          </a:xfrm>
          <a:prstGeom prst="rect">
            <a:avLst/>
          </a:prstGeom>
          <a:noFill/>
          <a:ln/>
        </p:spPr>
        <p:txBody>
          <a:bodyPr wrap="square" rtlCol="0" anchor="ctr"/>
          <a:lstStyle/>
          <a:p>
            <a:pPr marL="0" indent="0">
              <a:buNone/>
            </a:pPr>
            <a:r>
              <a:rPr lang="en-US" sz="1100" b="1" dirty="0">
                <a:solidFill>
                  <a:srgbClr val="10B981"/>
                </a:solidFill>
                <a:latin typeface="Arial Black" pitchFamily="34" charset="0"/>
                <a:ea typeface="Arial Black" pitchFamily="34" charset="-122"/>
                <a:cs typeface="Arial Black" pitchFamily="34" charset="-120"/>
              </a:rPr>
              <a:t>Test 5</a:t>
            </a:r>
            <a:endParaRPr lang="en-US" sz="1100" dirty="0"/>
          </a:p>
        </p:txBody>
      </p:sp>
      <p:sp>
        <p:nvSpPr>
          <p:cNvPr id="62" name="Text 60"/>
          <p:cNvSpPr/>
          <p:nvPr/>
        </p:nvSpPr>
        <p:spPr>
          <a:xfrm>
            <a:off x="1097280" y="5257800"/>
            <a:ext cx="2560320" cy="320040"/>
          </a:xfrm>
          <a:prstGeom prst="rect">
            <a:avLst/>
          </a:prstGeom>
          <a:noFill/>
          <a:ln/>
        </p:spPr>
        <p:txBody>
          <a:bodyPr wrap="square" rtlCol="0" anchor="ctr"/>
          <a:lstStyle/>
          <a:p>
            <a:pPr marL="0" indent="0">
              <a:buNone/>
            </a:pPr>
            <a:r>
              <a:rPr lang="en-US" sz="1000" b="1" dirty="0">
                <a:solidFill>
                  <a:srgbClr val="1A1A2E"/>
                </a:solidFill>
                <a:latin typeface="Calibri" pitchFamily="34" charset="0"/>
                <a:ea typeface="Calibri" pitchFamily="34" charset="-122"/>
                <a:cs typeface="Calibri" pitchFamily="34" charset="-120"/>
              </a:rPr>
              <a:t>Quantity vs Total Price</a:t>
            </a:r>
            <a:endParaRPr lang="en-US" sz="1000" dirty="0"/>
          </a:p>
        </p:txBody>
      </p:sp>
      <p:sp>
        <p:nvSpPr>
          <p:cNvPr id="63" name="Text 61"/>
          <p:cNvSpPr/>
          <p:nvPr/>
        </p:nvSpPr>
        <p:spPr>
          <a:xfrm>
            <a:off x="3840480" y="5257800"/>
            <a:ext cx="1463040" cy="320040"/>
          </a:xfrm>
          <a:prstGeom prst="rect">
            <a:avLst/>
          </a:prstGeom>
          <a:noFill/>
          <a:ln/>
        </p:spPr>
        <p:txBody>
          <a:bodyPr wrap="square"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Pearson correlation</a:t>
            </a:r>
            <a:endParaRPr lang="en-US" sz="900" dirty="0"/>
          </a:p>
        </p:txBody>
      </p:sp>
      <p:sp>
        <p:nvSpPr>
          <p:cNvPr id="64" name="Shape 62"/>
          <p:cNvSpPr/>
          <p:nvPr/>
        </p:nvSpPr>
        <p:spPr>
          <a:xfrm>
            <a:off x="5486400" y="5303520"/>
            <a:ext cx="914400" cy="292608"/>
          </a:xfrm>
          <a:prstGeom prst="rect">
            <a:avLst/>
          </a:prstGeom>
          <a:solidFill>
            <a:srgbClr val="D1FAE5"/>
          </a:solidFill>
          <a:ln w="12700">
            <a:solidFill>
              <a:srgbClr val="10B981"/>
            </a:solidFill>
            <a:prstDash val="solid"/>
          </a:ln>
        </p:spPr>
        <p:txBody>
          <a:bodyPr/>
          <a:lstStyle/>
          <a:p>
            <a:endParaRPr lang="en-US"/>
          </a:p>
        </p:txBody>
      </p:sp>
      <p:sp>
        <p:nvSpPr>
          <p:cNvPr id="65" name="Text 63"/>
          <p:cNvSpPr/>
          <p:nvPr/>
        </p:nvSpPr>
        <p:spPr>
          <a:xfrm>
            <a:off x="5486400" y="5303520"/>
            <a:ext cx="914400" cy="292608"/>
          </a:xfrm>
          <a:prstGeom prst="rect">
            <a:avLst/>
          </a:prstGeom>
          <a:noFill/>
          <a:ln/>
        </p:spPr>
        <p:txBody>
          <a:bodyPr wrap="square" rtlCol="0" anchor="ctr"/>
          <a:lstStyle/>
          <a:p>
            <a:pPr marL="0" indent="0" algn="ctr">
              <a:buNone/>
            </a:pPr>
            <a:r>
              <a:rPr lang="en-US" sz="900" b="1" dirty="0">
                <a:solidFill>
                  <a:srgbClr val="10B981"/>
                </a:solidFill>
                <a:latin typeface="Calibri" pitchFamily="34" charset="0"/>
                <a:ea typeface="Calibri" pitchFamily="34" charset="-122"/>
                <a:cs typeface="Calibri" pitchFamily="34" charset="-120"/>
              </a:rPr>
              <a:t>p ≈ 0.000</a:t>
            </a:r>
            <a:endParaRPr lang="en-US" sz="900" dirty="0"/>
          </a:p>
        </p:txBody>
      </p:sp>
      <p:sp>
        <p:nvSpPr>
          <p:cNvPr id="66" name="Shape 64"/>
          <p:cNvSpPr/>
          <p:nvPr/>
        </p:nvSpPr>
        <p:spPr>
          <a:xfrm>
            <a:off x="6583680" y="5303520"/>
            <a:ext cx="1188720" cy="292608"/>
          </a:xfrm>
          <a:prstGeom prst="rect">
            <a:avLst/>
          </a:prstGeom>
          <a:solidFill>
            <a:srgbClr val="D1FAE5"/>
          </a:solidFill>
          <a:ln w="12700">
            <a:solidFill>
              <a:srgbClr val="10B981"/>
            </a:solidFill>
            <a:prstDash val="solid"/>
          </a:ln>
        </p:spPr>
        <p:txBody>
          <a:bodyPr/>
          <a:lstStyle/>
          <a:p>
            <a:endParaRPr lang="en-US"/>
          </a:p>
        </p:txBody>
      </p:sp>
      <p:sp>
        <p:nvSpPr>
          <p:cNvPr id="67" name="Text 65"/>
          <p:cNvSpPr/>
          <p:nvPr/>
        </p:nvSpPr>
        <p:spPr>
          <a:xfrm>
            <a:off x="6583680" y="5303520"/>
            <a:ext cx="1188720" cy="292608"/>
          </a:xfrm>
          <a:prstGeom prst="rect">
            <a:avLst/>
          </a:prstGeom>
          <a:noFill/>
          <a:ln/>
        </p:spPr>
        <p:txBody>
          <a:bodyPr wrap="square" rtlCol="0" anchor="ctr"/>
          <a:lstStyle/>
          <a:p>
            <a:pPr marL="0" indent="0" algn="ctr">
              <a:buNone/>
            </a:pPr>
            <a:r>
              <a:rPr lang="en-US" sz="800" b="1" dirty="0">
                <a:solidFill>
                  <a:srgbClr val="10B981"/>
                </a:solidFill>
                <a:latin typeface="Arial Black" pitchFamily="34" charset="0"/>
                <a:ea typeface="Arial Black" pitchFamily="34" charset="-122"/>
                <a:cs typeface="Arial Black" pitchFamily="34" charset="-120"/>
              </a:rPr>
              <a:t>REJECT H0</a:t>
            </a:r>
            <a:endParaRPr lang="en-US" sz="800" dirty="0"/>
          </a:p>
        </p:txBody>
      </p:sp>
      <p:sp>
        <p:nvSpPr>
          <p:cNvPr id="68" name="Text 66"/>
          <p:cNvSpPr/>
          <p:nvPr/>
        </p:nvSpPr>
        <p:spPr>
          <a:xfrm>
            <a:off x="7955280" y="5285232"/>
            <a:ext cx="3657600" cy="640080"/>
          </a:xfrm>
          <a:prstGeom prst="rect">
            <a:avLst/>
          </a:prstGeom>
          <a:noFill/>
          <a:ln/>
        </p:spPr>
        <p:txBody>
          <a:bodyPr wrap="square" rtlCol="0" anchor="ctr"/>
          <a:lstStyle/>
          <a:p>
            <a:pPr marL="0" indent="0">
              <a:buNone/>
            </a:pPr>
            <a:r>
              <a:rPr lang="en-US" sz="900" dirty="0">
                <a:solidFill>
                  <a:srgbClr val="4B5563"/>
                </a:solidFill>
                <a:latin typeface="Calibri" pitchFamily="34" charset="0"/>
                <a:ea typeface="Calibri" pitchFamily="34" charset="-122"/>
                <a:cs typeface="Calibri" pitchFamily="34" charset="-120"/>
              </a:rPr>
              <a:t>Quantity significantly affects total price</a:t>
            </a:r>
            <a:endParaRPr lang="en-US" sz="900" dirty="0"/>
          </a:p>
        </p:txBody>
      </p:sp>
      <p:sp>
        <p:nvSpPr>
          <p:cNvPr id="69" name="Shape 67"/>
          <p:cNvSpPr/>
          <p:nvPr/>
        </p:nvSpPr>
        <p:spPr>
          <a:xfrm>
            <a:off x="274320" y="6217920"/>
            <a:ext cx="11612880" cy="548640"/>
          </a:xfrm>
          <a:prstGeom prst="rect">
            <a:avLst/>
          </a:prstGeom>
          <a:solidFill>
            <a:srgbClr val="FF6B00"/>
          </a:solidFill>
          <a:ln w="12700">
            <a:solidFill>
              <a:srgbClr val="FF6B00"/>
            </a:solidFill>
            <a:prstDash val="solid"/>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21938"/>
            <a:ext cx="12161520" cy="502920"/>
          </a:xfrm>
          <a:prstGeom prst="rect">
            <a:avLst/>
          </a:prstGeom>
          <a:solidFill>
            <a:srgbClr val="FFFFFF"/>
          </a:solidFill>
          <a:ln w="12700">
            <a:solidFill>
              <a:srgbClr val="E5E7EB"/>
            </a:solidFill>
            <a:prstDash val="solid"/>
          </a:ln>
        </p:spPr>
        <p:txBody>
          <a:bodyPr/>
          <a:lstStyle/>
          <a:p>
            <a:endParaRPr lang="en-US"/>
          </a:p>
        </p:txBody>
      </p:sp>
      <p:sp>
        <p:nvSpPr>
          <p:cNvPr id="3" name="Text 1"/>
          <p:cNvSpPr/>
          <p:nvPr/>
        </p:nvSpPr>
        <p:spPr>
          <a:xfrm>
            <a:off x="365760" y="91439"/>
            <a:ext cx="8229600" cy="467769"/>
          </a:xfrm>
          <a:prstGeom prst="rect">
            <a:avLst/>
          </a:prstGeom>
          <a:noFill/>
          <a:ln/>
        </p:spPr>
        <p:txBody>
          <a:bodyPr wrap="square" lIns="0" tIns="0" rIns="0" bIns="0" rtlCol="0" anchor="ctr"/>
          <a:lstStyle/>
          <a:p>
            <a:pPr marL="0" indent="0">
              <a:buNone/>
            </a:pPr>
            <a:r>
              <a:rPr lang="en-US" sz="1600" b="1" dirty="0">
                <a:solidFill>
                  <a:srgbClr val="FF6B00"/>
                </a:solidFill>
                <a:latin typeface="Arial Black" pitchFamily="34" charset="0"/>
                <a:ea typeface="Arial Black" pitchFamily="34" charset="-122"/>
                <a:cs typeface="Arial Black" pitchFamily="34" charset="-120"/>
              </a:rPr>
              <a:t>CONCLUSIONS</a:t>
            </a:r>
            <a:endParaRPr lang="en-US" sz="1400" dirty="0"/>
          </a:p>
        </p:txBody>
      </p:sp>
      <p:sp>
        <p:nvSpPr>
          <p:cNvPr id="4" name="Text 2"/>
          <p:cNvSpPr/>
          <p:nvPr/>
        </p:nvSpPr>
        <p:spPr>
          <a:xfrm>
            <a:off x="10058400" y="91440"/>
            <a:ext cx="1828800" cy="32004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Slide 5 of 5</a:t>
            </a:r>
            <a:endParaRPr lang="en-US" sz="1000" dirty="0"/>
          </a:p>
        </p:txBody>
      </p:sp>
      <p:sp>
        <p:nvSpPr>
          <p:cNvPr id="50" name="Shape 48"/>
          <p:cNvSpPr/>
          <p:nvPr/>
        </p:nvSpPr>
        <p:spPr>
          <a:xfrm>
            <a:off x="274320" y="731211"/>
            <a:ext cx="6552890" cy="2778470"/>
          </a:xfrm>
          <a:prstGeom prst="rect">
            <a:avLst/>
          </a:prstGeom>
          <a:solidFill>
            <a:srgbClr val="FFFFFF"/>
          </a:solidFill>
          <a:ln w="12700">
            <a:solidFill>
              <a:srgbClr val="E5E7EB"/>
            </a:solidFill>
            <a:prstDash val="solid"/>
          </a:ln>
          <a:effectLst>
            <a:outerShdw blurRad="76200" dist="25400" dir="8100000" algn="bl" rotWithShape="0">
              <a:srgbClr val="000000">
                <a:alpha val="10000"/>
              </a:srgbClr>
            </a:outerShdw>
          </a:effectLst>
        </p:spPr>
        <p:txBody>
          <a:bodyPr/>
          <a:lstStyle/>
          <a:p>
            <a:endParaRPr lang="en-US" sz="4000"/>
          </a:p>
        </p:txBody>
      </p:sp>
      <p:sp>
        <p:nvSpPr>
          <p:cNvPr id="51" name="Shape 49"/>
          <p:cNvSpPr/>
          <p:nvPr/>
        </p:nvSpPr>
        <p:spPr>
          <a:xfrm>
            <a:off x="274320" y="731211"/>
            <a:ext cx="6552890" cy="79520"/>
          </a:xfrm>
          <a:prstGeom prst="rect">
            <a:avLst/>
          </a:prstGeom>
          <a:solidFill>
            <a:srgbClr val="FF6B00"/>
          </a:solidFill>
          <a:ln w="12700">
            <a:solidFill>
              <a:srgbClr val="FF6B00"/>
            </a:solidFill>
            <a:prstDash val="solid"/>
          </a:ln>
        </p:spPr>
        <p:txBody>
          <a:bodyPr/>
          <a:lstStyle/>
          <a:p>
            <a:endParaRPr lang="en-US" sz="4000"/>
          </a:p>
        </p:txBody>
      </p:sp>
      <p:sp>
        <p:nvSpPr>
          <p:cNvPr id="52" name="Text 50"/>
          <p:cNvSpPr/>
          <p:nvPr/>
        </p:nvSpPr>
        <p:spPr>
          <a:xfrm>
            <a:off x="457200" y="795218"/>
            <a:ext cx="6048822" cy="340801"/>
          </a:xfrm>
          <a:prstGeom prst="rect">
            <a:avLst/>
          </a:prstGeom>
          <a:noFill/>
          <a:ln/>
        </p:spPr>
        <p:txBody>
          <a:bodyPr wrap="square" lIns="0" tIns="0" rIns="0" bIns="0" rtlCol="0" anchor="ctr"/>
          <a:lstStyle/>
          <a:p>
            <a:pPr marL="0" indent="0">
              <a:buNone/>
            </a:pPr>
            <a:r>
              <a:rPr lang="en-US" b="1" dirty="0">
                <a:solidFill>
                  <a:srgbClr val="FF6B00"/>
                </a:solidFill>
                <a:latin typeface="Arial Black" pitchFamily="34" charset="0"/>
                <a:ea typeface="Arial Black" pitchFamily="34" charset="-122"/>
                <a:cs typeface="Arial Black" pitchFamily="34" charset="-120"/>
              </a:rPr>
              <a:t>KEY FINDINGS</a:t>
            </a:r>
            <a:endParaRPr lang="en-US" dirty="0"/>
          </a:p>
        </p:txBody>
      </p:sp>
      <p:sp>
        <p:nvSpPr>
          <p:cNvPr id="53" name="Text 51"/>
          <p:cNvSpPr/>
          <p:nvPr/>
        </p:nvSpPr>
        <p:spPr>
          <a:xfrm>
            <a:off x="457200" y="1188410"/>
            <a:ext cx="6048822" cy="454401"/>
          </a:xfrm>
          <a:prstGeom prst="rect">
            <a:avLst/>
          </a:prstGeom>
          <a:noFill/>
          <a:ln/>
        </p:spPr>
        <p:txBody>
          <a:bodyPr wrap="square" rtlCol="0" anchor="ctr"/>
          <a:lstStyle/>
          <a:p>
            <a:pPr marL="0" indent="0">
              <a:buNone/>
            </a:pPr>
            <a:r>
              <a:rPr lang="en-US" sz="1600" dirty="0">
                <a:solidFill>
                  <a:srgbClr val="10B981"/>
                </a:solidFill>
                <a:latin typeface="Calibri" pitchFamily="34" charset="0"/>
                <a:ea typeface="Calibri" pitchFamily="34" charset="-122"/>
                <a:cs typeface="Calibri" pitchFamily="34" charset="-120"/>
              </a:rPr>
              <a:t>✓ Delivery times: consistent but above 35-min benchmark (p &lt; 0.001)</a:t>
            </a:r>
            <a:endParaRPr lang="en-US" sz="1600" dirty="0"/>
          </a:p>
        </p:txBody>
      </p:sp>
      <p:sp>
        <p:nvSpPr>
          <p:cNvPr id="54" name="Text 52"/>
          <p:cNvSpPr/>
          <p:nvPr/>
        </p:nvSpPr>
        <p:spPr>
          <a:xfrm>
            <a:off x="457200" y="1599890"/>
            <a:ext cx="6048822" cy="454401"/>
          </a:xfrm>
          <a:prstGeom prst="rect">
            <a:avLst/>
          </a:prstGeom>
          <a:noFill/>
          <a:ln/>
        </p:spPr>
        <p:txBody>
          <a:bodyPr wrap="square" rtlCol="0" anchor="ctr"/>
          <a:lstStyle/>
          <a:p>
            <a:pPr marL="0" indent="0">
              <a:buNone/>
            </a:pPr>
            <a:r>
              <a:rPr lang="en-US" sz="1600" dirty="0">
                <a:solidFill>
                  <a:srgbClr val="10B981"/>
                </a:solidFill>
                <a:latin typeface="Calibri" pitchFamily="34" charset="0"/>
                <a:ea typeface="Calibri" pitchFamily="34" charset="-122"/>
                <a:cs typeface="Calibri" pitchFamily="34" charset="-120"/>
              </a:rPr>
              <a:t>✓ Quantity: strong predictor of total price (p &lt; 0.001)</a:t>
            </a:r>
            <a:endParaRPr lang="en-US" sz="1600" dirty="0"/>
          </a:p>
        </p:txBody>
      </p:sp>
      <p:sp>
        <p:nvSpPr>
          <p:cNvPr id="55" name="Text 53"/>
          <p:cNvSpPr/>
          <p:nvPr/>
        </p:nvSpPr>
        <p:spPr>
          <a:xfrm>
            <a:off x="457200" y="2011370"/>
            <a:ext cx="6048822" cy="454401"/>
          </a:xfrm>
          <a:prstGeom prst="rect">
            <a:avLst/>
          </a:prstGeom>
          <a:noFill/>
          <a:ln/>
        </p:spPr>
        <p:txBody>
          <a:bodyPr wrap="square" rtlCol="0" anchor="ctr"/>
          <a:lstStyle/>
          <a:p>
            <a:pPr marL="0" indent="0">
              <a:buNone/>
            </a:pPr>
            <a:r>
              <a:rPr lang="en-US" sz="1600" dirty="0">
                <a:solidFill>
                  <a:srgbClr val="EF4444"/>
                </a:solidFill>
                <a:latin typeface="Calibri" pitchFamily="34" charset="0"/>
                <a:ea typeface="Calibri" pitchFamily="34" charset="-122"/>
                <a:cs typeface="Calibri" pitchFamily="34" charset="-120"/>
              </a:rPr>
              <a:t>✗ Traffic level: does NOT affect delivery time (p = 0.178)</a:t>
            </a:r>
            <a:endParaRPr lang="en-US" sz="1600" dirty="0"/>
          </a:p>
        </p:txBody>
      </p:sp>
      <p:sp>
        <p:nvSpPr>
          <p:cNvPr id="56" name="Text 54"/>
          <p:cNvSpPr/>
          <p:nvPr/>
        </p:nvSpPr>
        <p:spPr>
          <a:xfrm>
            <a:off x="457200" y="2422850"/>
            <a:ext cx="6048822" cy="454401"/>
          </a:xfrm>
          <a:prstGeom prst="rect">
            <a:avLst/>
          </a:prstGeom>
          <a:noFill/>
          <a:ln/>
        </p:spPr>
        <p:txBody>
          <a:bodyPr wrap="square" rtlCol="0" anchor="ctr"/>
          <a:lstStyle/>
          <a:p>
            <a:pPr marL="0" indent="0">
              <a:buNone/>
            </a:pPr>
            <a:r>
              <a:rPr lang="en-US" sz="1600" dirty="0">
                <a:solidFill>
                  <a:srgbClr val="EF4444"/>
                </a:solidFill>
                <a:latin typeface="Calibri" pitchFamily="34" charset="0"/>
                <a:ea typeface="Calibri" pitchFamily="34" charset="-122"/>
                <a:cs typeface="Calibri" pitchFamily="34" charset="-120"/>
              </a:rPr>
              <a:t>✗ Distance: NOT correlated with delivery duration (p = 0.596)</a:t>
            </a:r>
            <a:endParaRPr lang="en-US" sz="1600" dirty="0"/>
          </a:p>
        </p:txBody>
      </p:sp>
      <p:sp>
        <p:nvSpPr>
          <p:cNvPr id="57" name="Text 55"/>
          <p:cNvSpPr/>
          <p:nvPr/>
        </p:nvSpPr>
        <p:spPr>
          <a:xfrm>
            <a:off x="457200" y="2834330"/>
            <a:ext cx="6048822" cy="454401"/>
          </a:xfrm>
          <a:prstGeom prst="rect">
            <a:avLst/>
          </a:prstGeom>
          <a:noFill/>
          <a:ln/>
        </p:spPr>
        <p:txBody>
          <a:bodyPr wrap="square" rtlCol="0" anchor="ctr"/>
          <a:lstStyle/>
          <a:p>
            <a:pPr marL="0" indent="0">
              <a:buNone/>
            </a:pPr>
            <a:r>
              <a:rPr lang="en-US" sz="1600" dirty="0">
                <a:solidFill>
                  <a:srgbClr val="EF4444"/>
                </a:solidFill>
                <a:latin typeface="Calibri" pitchFamily="34" charset="0"/>
                <a:ea typeface="Calibri" pitchFamily="34" charset="-122"/>
                <a:cs typeface="Calibri" pitchFamily="34" charset="-120"/>
              </a:rPr>
              <a:t>✗ Payment method: does NOT influence order status (p = 0.167)</a:t>
            </a:r>
            <a:endParaRPr lang="en-US" sz="1600" dirty="0"/>
          </a:p>
        </p:txBody>
      </p:sp>
      <p:sp>
        <p:nvSpPr>
          <p:cNvPr id="58" name="Shape 56"/>
          <p:cNvSpPr/>
          <p:nvPr/>
        </p:nvSpPr>
        <p:spPr>
          <a:xfrm>
            <a:off x="274320" y="3754554"/>
            <a:ext cx="6552890" cy="2226283"/>
          </a:xfrm>
          <a:prstGeom prst="rect">
            <a:avLst/>
          </a:prstGeom>
          <a:solidFill>
            <a:srgbClr val="FFFFFF"/>
          </a:solidFill>
          <a:ln w="12700">
            <a:solidFill>
              <a:srgbClr val="E5E7EB"/>
            </a:solidFill>
            <a:prstDash val="solid"/>
          </a:ln>
          <a:effectLst>
            <a:outerShdw blurRad="76200" dist="25400" dir="8100000" algn="bl" rotWithShape="0">
              <a:srgbClr val="000000">
                <a:alpha val="10000"/>
              </a:srgbClr>
            </a:outerShdw>
          </a:effectLst>
        </p:spPr>
        <p:txBody>
          <a:bodyPr/>
          <a:lstStyle/>
          <a:p>
            <a:endParaRPr lang="en-US" sz="4400"/>
          </a:p>
        </p:txBody>
      </p:sp>
      <p:sp>
        <p:nvSpPr>
          <p:cNvPr id="59" name="Shape 57"/>
          <p:cNvSpPr/>
          <p:nvPr/>
        </p:nvSpPr>
        <p:spPr>
          <a:xfrm>
            <a:off x="274320" y="3737475"/>
            <a:ext cx="6552890" cy="83543"/>
          </a:xfrm>
          <a:prstGeom prst="rect">
            <a:avLst/>
          </a:prstGeom>
          <a:solidFill>
            <a:srgbClr val="F59E0B"/>
          </a:solidFill>
          <a:ln w="12700">
            <a:solidFill>
              <a:srgbClr val="F59E0B"/>
            </a:solidFill>
            <a:prstDash val="solid"/>
          </a:ln>
        </p:spPr>
        <p:txBody>
          <a:bodyPr/>
          <a:lstStyle/>
          <a:p>
            <a:endParaRPr lang="en-US" sz="4400"/>
          </a:p>
        </p:txBody>
      </p:sp>
      <p:sp>
        <p:nvSpPr>
          <p:cNvPr id="60" name="Text 58"/>
          <p:cNvSpPr/>
          <p:nvPr/>
        </p:nvSpPr>
        <p:spPr>
          <a:xfrm>
            <a:off x="434919" y="3801483"/>
            <a:ext cx="6048821" cy="358041"/>
          </a:xfrm>
          <a:prstGeom prst="rect">
            <a:avLst/>
          </a:prstGeom>
          <a:noFill/>
          <a:ln/>
        </p:spPr>
        <p:txBody>
          <a:bodyPr wrap="square" lIns="0" tIns="0" rIns="0" bIns="0" rtlCol="0" anchor="ctr"/>
          <a:lstStyle/>
          <a:p>
            <a:pPr marL="0" indent="0">
              <a:buNone/>
            </a:pPr>
            <a:r>
              <a:rPr lang="en-US" sz="2000" b="1" dirty="0">
                <a:solidFill>
                  <a:srgbClr val="F59E0B"/>
                </a:solidFill>
                <a:latin typeface="Arial Black" pitchFamily="34" charset="0"/>
                <a:ea typeface="Arial Black" pitchFamily="34" charset="-122"/>
                <a:cs typeface="Arial Black" pitchFamily="34" charset="-120"/>
              </a:rPr>
              <a:t>LIMITATIONS</a:t>
            </a:r>
            <a:endParaRPr lang="en-US" sz="2000" dirty="0"/>
          </a:p>
        </p:txBody>
      </p:sp>
      <p:sp>
        <p:nvSpPr>
          <p:cNvPr id="61" name="Text 59"/>
          <p:cNvSpPr/>
          <p:nvPr/>
        </p:nvSpPr>
        <p:spPr>
          <a:xfrm>
            <a:off x="434919" y="4194675"/>
            <a:ext cx="6048821" cy="417715"/>
          </a:xfrm>
          <a:prstGeom prst="rect">
            <a:avLst/>
          </a:prstGeom>
          <a:noFill/>
          <a:ln/>
        </p:spPr>
        <p:txBody>
          <a:bodyPr wrap="square" rtlCol="0" anchor="ctr"/>
          <a:lstStyle/>
          <a:p>
            <a:pPr marL="0" indent="0">
              <a:buNone/>
            </a:pPr>
            <a:r>
              <a:rPr lang="en-US" sz="1600" dirty="0">
                <a:solidFill>
                  <a:srgbClr val="4B5563"/>
                </a:solidFill>
                <a:latin typeface="Calibri" pitchFamily="34" charset="0"/>
                <a:ea typeface="Calibri" pitchFamily="34" charset="-122"/>
                <a:cs typeface="Calibri" pitchFamily="34" charset="-120"/>
              </a:rPr>
              <a:t>⚠ Synthetic/simulated data - artificial relationships</a:t>
            </a:r>
            <a:endParaRPr lang="en-US" sz="1600" dirty="0"/>
          </a:p>
        </p:txBody>
      </p:sp>
      <p:sp>
        <p:nvSpPr>
          <p:cNvPr id="62" name="Text 60"/>
          <p:cNvSpPr/>
          <p:nvPr/>
        </p:nvSpPr>
        <p:spPr>
          <a:xfrm>
            <a:off x="434919" y="4560435"/>
            <a:ext cx="6048821" cy="417715"/>
          </a:xfrm>
          <a:prstGeom prst="rect">
            <a:avLst/>
          </a:prstGeom>
          <a:noFill/>
          <a:ln/>
        </p:spPr>
        <p:txBody>
          <a:bodyPr wrap="square" rtlCol="0" anchor="ctr"/>
          <a:lstStyle/>
          <a:p>
            <a:pPr marL="0" indent="0">
              <a:buNone/>
            </a:pPr>
            <a:r>
              <a:rPr lang="en-US" sz="1600" dirty="0">
                <a:solidFill>
                  <a:srgbClr val="4B5563"/>
                </a:solidFill>
                <a:latin typeface="Calibri" pitchFamily="34" charset="0"/>
                <a:ea typeface="Calibri" pitchFamily="34" charset="-122"/>
                <a:cs typeface="Calibri" pitchFamily="34" charset="-120"/>
              </a:rPr>
              <a:t>⚠ Weak correlations where real relationships should exist</a:t>
            </a:r>
            <a:endParaRPr lang="en-US" sz="1600" dirty="0"/>
          </a:p>
        </p:txBody>
      </p:sp>
      <p:sp>
        <p:nvSpPr>
          <p:cNvPr id="63" name="Text 61"/>
          <p:cNvSpPr/>
          <p:nvPr/>
        </p:nvSpPr>
        <p:spPr>
          <a:xfrm>
            <a:off x="434919" y="4926195"/>
            <a:ext cx="6048821" cy="417715"/>
          </a:xfrm>
          <a:prstGeom prst="rect">
            <a:avLst/>
          </a:prstGeom>
          <a:noFill/>
          <a:ln/>
        </p:spPr>
        <p:txBody>
          <a:bodyPr wrap="square" rtlCol="0" anchor="ctr"/>
          <a:lstStyle/>
          <a:p>
            <a:pPr marL="0" indent="0">
              <a:buNone/>
            </a:pPr>
            <a:r>
              <a:rPr lang="en-US" sz="1600" dirty="0">
                <a:solidFill>
                  <a:srgbClr val="4B5563"/>
                </a:solidFill>
                <a:latin typeface="Calibri" pitchFamily="34" charset="0"/>
                <a:ea typeface="Calibri" pitchFamily="34" charset="-122"/>
                <a:cs typeface="Calibri" pitchFamily="34" charset="-120"/>
              </a:rPr>
              <a:t>⚠ No missing values - unrealistically clean</a:t>
            </a:r>
            <a:endParaRPr lang="en-US" sz="1600" dirty="0"/>
          </a:p>
        </p:txBody>
      </p:sp>
      <p:sp>
        <p:nvSpPr>
          <p:cNvPr id="64" name="Text 62"/>
          <p:cNvSpPr/>
          <p:nvPr/>
        </p:nvSpPr>
        <p:spPr>
          <a:xfrm>
            <a:off x="434919" y="5291955"/>
            <a:ext cx="6048821" cy="417715"/>
          </a:xfrm>
          <a:prstGeom prst="rect">
            <a:avLst/>
          </a:prstGeom>
          <a:noFill/>
          <a:ln/>
        </p:spPr>
        <p:txBody>
          <a:bodyPr wrap="square" rtlCol="0" anchor="ctr"/>
          <a:lstStyle/>
          <a:p>
            <a:pPr marL="0" indent="0">
              <a:buNone/>
            </a:pPr>
            <a:r>
              <a:rPr lang="en-US" sz="1600" dirty="0">
                <a:solidFill>
                  <a:srgbClr val="4B5563"/>
                </a:solidFill>
                <a:latin typeface="Calibri" pitchFamily="34" charset="0"/>
                <a:ea typeface="Calibri" pitchFamily="34" charset="-122"/>
                <a:cs typeface="Calibri" pitchFamily="34" charset="-120"/>
              </a:rPr>
              <a:t>⚠ Uniform distributions across categories - unlikely in reality</a:t>
            </a:r>
            <a:endParaRPr lang="en-US" sz="1600" dirty="0"/>
          </a:p>
        </p:txBody>
      </p:sp>
      <p:sp>
        <p:nvSpPr>
          <p:cNvPr id="65" name="Shape 63"/>
          <p:cNvSpPr/>
          <p:nvPr/>
        </p:nvSpPr>
        <p:spPr>
          <a:xfrm>
            <a:off x="7072605" y="2229456"/>
            <a:ext cx="4662196" cy="2825870"/>
          </a:xfrm>
          <a:prstGeom prst="rect">
            <a:avLst/>
          </a:prstGeom>
          <a:solidFill>
            <a:srgbClr val="F8F9FC"/>
          </a:solidFill>
          <a:ln w="12700">
            <a:solidFill>
              <a:srgbClr val="FF6B00"/>
            </a:solidFill>
            <a:prstDash val="solid"/>
          </a:ln>
          <a:effectLst>
            <a:outerShdw blurRad="76200" dist="25400" dir="8100000" algn="bl" rotWithShape="0">
              <a:srgbClr val="000000">
                <a:alpha val="10000"/>
              </a:srgbClr>
            </a:outerShdw>
          </a:effectLst>
        </p:spPr>
        <p:txBody>
          <a:bodyPr/>
          <a:lstStyle/>
          <a:p>
            <a:endParaRPr lang="en-US" sz="2400"/>
          </a:p>
        </p:txBody>
      </p:sp>
      <p:sp>
        <p:nvSpPr>
          <p:cNvPr id="66" name="Text 64"/>
          <p:cNvSpPr/>
          <p:nvPr/>
        </p:nvSpPr>
        <p:spPr>
          <a:xfrm>
            <a:off x="7211898" y="2589040"/>
            <a:ext cx="4349353" cy="463733"/>
          </a:xfrm>
          <a:prstGeom prst="rect">
            <a:avLst/>
          </a:prstGeom>
          <a:noFill/>
          <a:ln/>
        </p:spPr>
        <p:txBody>
          <a:bodyPr wrap="square" lIns="0" tIns="0" rIns="0" bIns="0" rtlCol="0" anchor="ctr"/>
          <a:lstStyle/>
          <a:p>
            <a:pPr marL="0" indent="0">
              <a:buNone/>
            </a:pPr>
            <a:r>
              <a:rPr lang="en-US" sz="1100" b="1" dirty="0">
                <a:solidFill>
                  <a:srgbClr val="FF6B00"/>
                </a:solidFill>
                <a:latin typeface="Arial Black" pitchFamily="34" charset="0"/>
                <a:ea typeface="Arial Black" pitchFamily="34" charset="-122"/>
                <a:cs typeface="Arial Black" pitchFamily="34" charset="-120"/>
              </a:rPr>
              <a:t>KEY TAKEAWAY</a:t>
            </a:r>
            <a:endParaRPr lang="en-US" sz="1100" dirty="0"/>
          </a:p>
        </p:txBody>
      </p:sp>
      <p:sp>
        <p:nvSpPr>
          <p:cNvPr id="67" name="Text 65"/>
          <p:cNvSpPr/>
          <p:nvPr/>
        </p:nvSpPr>
        <p:spPr>
          <a:xfrm>
            <a:off x="7211898" y="2785360"/>
            <a:ext cx="4349353" cy="1956371"/>
          </a:xfrm>
          <a:prstGeom prst="rect">
            <a:avLst/>
          </a:prstGeom>
          <a:noFill/>
          <a:ln/>
        </p:spPr>
        <p:txBody>
          <a:bodyPr wrap="square" rtlCol="0" anchor="ctr"/>
          <a:lstStyle/>
          <a:p>
            <a:pPr marL="0" indent="0">
              <a:buNone/>
            </a:pPr>
            <a:r>
              <a:rPr lang="en-US" sz="1050" dirty="0">
                <a:solidFill>
                  <a:srgbClr val="1F2937"/>
                </a:solidFill>
                <a:latin typeface="Calibri" pitchFamily="34" charset="0"/>
                <a:ea typeface="Calibri" pitchFamily="34" charset="-122"/>
                <a:cs typeface="Calibri" pitchFamily="34" charset="-120"/>
              </a:rPr>
              <a:t>Delivery times consistently exceed the 35-minute benchmark. Talabat should focus on operational factors beyond traffic — restaurant preparation time and driver dispatch efficiency.</a:t>
            </a:r>
            <a:endParaRPr lang="en-US" sz="1050" dirty="0"/>
          </a:p>
        </p:txBody>
      </p:sp>
      <p:sp>
        <p:nvSpPr>
          <p:cNvPr id="68" name="Shape 67">
            <a:extLst>
              <a:ext uri="{FF2B5EF4-FFF2-40B4-BE49-F238E27FC236}">
                <a16:creationId xmlns:a16="http://schemas.microsoft.com/office/drawing/2014/main" id="{21C2AFE0-422F-138F-B236-CC200E8931E0}"/>
              </a:ext>
            </a:extLst>
          </p:cNvPr>
          <p:cNvSpPr/>
          <p:nvPr/>
        </p:nvSpPr>
        <p:spPr>
          <a:xfrm>
            <a:off x="274320" y="6217920"/>
            <a:ext cx="11612880" cy="548640"/>
          </a:xfrm>
          <a:prstGeom prst="rect">
            <a:avLst/>
          </a:prstGeom>
          <a:solidFill>
            <a:srgbClr val="FF6B00"/>
          </a:solidFill>
          <a:ln w="12700">
            <a:solidFill>
              <a:srgbClr val="FF6B00"/>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TotalTime>
  <Words>1055</Words>
  <Application>Microsoft Macintosh PowerPoint</Application>
  <PresentationFormat>Widescreen</PresentationFormat>
  <Paragraphs>143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Talabat Delivery Orders Analysis</dc:title>
  <dc:subject>PptxGenJS Presentation</dc:subject>
  <dc:creator>PptxGenJS</dc:creator>
  <cp:lastModifiedBy>Haya Mohamed Moussa</cp:lastModifiedBy>
  <cp:revision>28</cp:revision>
  <dcterms:created xsi:type="dcterms:W3CDTF">2026-05-03T20:08:44Z</dcterms:created>
  <dcterms:modified xsi:type="dcterms:W3CDTF">2026-05-08T19:55:25Z</dcterms:modified>
</cp:coreProperties>
</file>